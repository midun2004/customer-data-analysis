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9" r:id="rId14"/>
    <p:sldId id="270" r:id="rId15"/>
    <p:sldId id="271" r:id="rId16"/>
    <p:sldId id="272" r:id="rId17"/>
    <p:sldId id="273" r:id="rId18"/>
    <p:sldId id="274" r:id="rId19"/>
    <p:sldId id="276" r:id="rId20"/>
    <p:sldId id="277" r:id="rId21"/>
    <p:sldId id="275" r:id="rId22"/>
  </p:sldIdLst>
  <p:sldSz cx="9144000" cy="6480175"/>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660"/>
  </p:normalViewPr>
  <p:slideViewPr>
    <p:cSldViewPr>
      <p:cViewPr varScale="1">
        <p:scale>
          <a:sx n="92" d="100"/>
          <a:sy n="92" d="100"/>
        </p:scale>
        <p:origin x="-1186" y="-86"/>
      </p:cViewPr>
      <p:guideLst>
        <p:guide orient="horz" pos="2041"/>
        <p:guide pos="2880"/>
      </p:guideLst>
    </p:cSldViewPr>
  </p:slideViewPr>
  <p:notesTextViewPr>
    <p:cViewPr>
      <p:scale>
        <a:sx n="100" d="100"/>
        <a:sy n="100" d="100"/>
      </p:scale>
      <p:origin x="0" y="0"/>
    </p:cViewPr>
  </p:notesTextViewPr>
  <p:sorterViewPr>
    <p:cViewPr>
      <p:scale>
        <a:sx n="66" d="100"/>
        <a:sy n="66" d="100"/>
      </p:scale>
      <p:origin x="0" y="0"/>
    </p:cViewPr>
  </p:sorter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D74F885-95EB-4E71-813A-A9CFDA600BC0}" type="datetimeFigureOut">
              <a:rPr lang="en-US" smtClean="0"/>
              <a:pPr/>
              <a:t>11/17/2025</a:t>
            </a:fld>
            <a:endParaRPr lang="en-US"/>
          </a:p>
        </p:txBody>
      </p:sp>
      <p:sp>
        <p:nvSpPr>
          <p:cNvPr id="4" name="Slide Image Placeholder 3"/>
          <p:cNvSpPr>
            <a:spLocks noGrp="1" noRot="1" noChangeAspect="1"/>
          </p:cNvSpPr>
          <p:nvPr>
            <p:ph type="sldImg" idx="2"/>
          </p:nvPr>
        </p:nvSpPr>
        <p:spPr>
          <a:xfrm>
            <a:off x="1011238" y="685800"/>
            <a:ext cx="4835525"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07063D8-A09E-49C0-ACFB-2ECF1E34C334}"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07063D8-A09E-49C0-ACFB-2ECF1E34C334}"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07063D8-A09E-49C0-ACFB-2ECF1E34C334}" type="slidenum">
              <a:rPr lang="en-US" smtClean="0"/>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07063D8-A09E-49C0-ACFB-2ECF1E34C334}" type="slidenum">
              <a:rPr lang="en-US" smtClean="0"/>
              <a:pPr/>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07063D8-A09E-49C0-ACFB-2ECF1E34C334}" type="slidenum">
              <a:rPr lang="en-US" smtClean="0"/>
              <a:pPr/>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07063D8-A09E-49C0-ACFB-2ECF1E34C334}" type="slidenum">
              <a:rPr lang="en-US" smtClean="0"/>
              <a:pPr/>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07063D8-A09E-49C0-ACFB-2ECF1E34C334}" type="slidenum">
              <a:rPr lang="en-US" smtClean="0"/>
              <a:pPr/>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07063D8-A09E-49C0-ACFB-2ECF1E34C334}" type="slidenum">
              <a:rPr lang="en-US" smtClean="0"/>
              <a:pPr/>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07063D8-A09E-49C0-ACFB-2ECF1E34C334}" type="slidenum">
              <a:rPr lang="en-US" smtClean="0"/>
              <a:pPr/>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07063D8-A09E-49C0-ACFB-2ECF1E34C334}" type="slidenum">
              <a:rPr lang="en-US" smtClean="0"/>
              <a:pPr/>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07063D8-A09E-49C0-ACFB-2ECF1E34C334}" type="slidenum">
              <a:rPr lang="en-US" smtClean="0"/>
              <a:pPr/>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07063D8-A09E-49C0-ACFB-2ECF1E34C334}" type="slidenum">
              <a:rPr lang="en-US" smtClean="0"/>
              <a:pPr/>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07063D8-A09E-49C0-ACFB-2ECF1E34C334}" type="slidenum">
              <a:rPr lang="en-US" smtClean="0"/>
              <a:pPr/>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07063D8-A09E-49C0-ACFB-2ECF1E34C334}" type="slidenum">
              <a:rPr lang="en-US" smtClean="0"/>
              <a:pPr/>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07063D8-A09E-49C0-ACFB-2ECF1E34C334}" type="slidenum">
              <a:rPr lang="en-US" smtClean="0"/>
              <a:pPr/>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07063D8-A09E-49C0-ACFB-2ECF1E34C334}" type="slidenum">
              <a:rPr lang="en-US" smtClean="0"/>
              <a:pPr/>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07063D8-A09E-49C0-ACFB-2ECF1E34C334}" type="slidenum">
              <a:rPr lang="en-US" smtClean="0"/>
              <a:pPr/>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07063D8-A09E-49C0-ACFB-2ECF1E34C334}" type="slidenum">
              <a:rPr lang="en-US" smtClean="0"/>
              <a:pPr/>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07063D8-A09E-49C0-ACFB-2ECF1E34C334}" type="slidenum">
              <a:rPr lang="en-US" smtClean="0"/>
              <a:pPr/>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07063D8-A09E-49C0-ACFB-2ECF1E34C334}" type="slidenum">
              <a:rPr lang="en-US" smtClean="0"/>
              <a:pPr/>
              <a:t>19</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07063D8-A09E-49C0-ACFB-2ECF1E34C334}" type="slidenum">
              <a:rPr lang="en-US" smtClean="0"/>
              <a:pPr/>
              <a:t>20</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07063D8-A09E-49C0-ACFB-2ECF1E34C334}" type="slidenum">
              <a:rPr lang="en-US" smtClean="0"/>
              <a:pPr/>
              <a:t>21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013056"/>
            <a:ext cx="7772400" cy="1389038"/>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672099"/>
            <a:ext cx="6400800" cy="1656045"/>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22B131ED-A583-4061-A417-B080E01A145D}" type="datetimeFigureOut">
              <a:rPr lang="en-US" smtClean="0"/>
              <a:pPr/>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99F3BD-1FCE-4A3E-B324-A1CB1BAD6043}"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2B131ED-A583-4061-A417-B080E01A145D}" type="datetimeFigureOut">
              <a:rPr lang="en-US" smtClean="0"/>
              <a:pPr/>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99F3BD-1FCE-4A3E-B324-A1CB1BAD6043}"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164113"/>
            <a:ext cx="7772400" cy="128703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746576"/>
            <a:ext cx="7772400" cy="1417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2B131ED-A583-4061-A417-B080E01A145D}" type="datetimeFigureOut">
              <a:rPr lang="en-US" smtClean="0"/>
              <a:pPr/>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99F3BD-1FCE-4A3E-B324-A1CB1BAD6043}"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512042"/>
            <a:ext cx="4038600" cy="427661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512042"/>
            <a:ext cx="4038600" cy="427661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2B131ED-A583-4061-A417-B080E01A145D}" type="datetimeFigureOut">
              <a:rPr lang="en-US" smtClean="0"/>
              <a:pPr/>
              <a:t>11/17/2025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D99F3BD-1FCE-4A3E-B324-A1CB1BAD6043}"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1" y="1450540"/>
            <a:ext cx="4040188" cy="6045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1" y="2055056"/>
            <a:ext cx="4040188" cy="3733601"/>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7" y="1450540"/>
            <a:ext cx="4041775" cy="6045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7" y="2055056"/>
            <a:ext cx="4041775" cy="3733601"/>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22B131ED-A583-4061-A417-B080E01A145D}" type="datetimeFigureOut">
              <a:rPr lang="en-US" smtClean="0"/>
              <a:pPr/>
              <a:t>11/17/2025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D99F3BD-1FCE-4A3E-B324-A1CB1BAD6043}"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22B131ED-A583-4061-A417-B080E01A145D}" type="datetimeFigureOut">
              <a:rPr lang="en-US" smtClean="0"/>
              <a:pPr/>
              <a:t>11/17/2025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D99F3BD-1FCE-4A3E-B324-A1CB1BAD6043}"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2B131ED-A583-4061-A417-B080E01A145D}" type="datetimeFigureOut">
              <a:rPr lang="en-US" smtClean="0"/>
              <a:pPr/>
              <a:t>11/17/2025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D99F3BD-1FCE-4A3E-B324-A1CB1BAD6043}"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58007"/>
            <a:ext cx="3008313" cy="109803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1" y="258008"/>
            <a:ext cx="5111751" cy="553065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2" y="1356038"/>
            <a:ext cx="3008313" cy="443262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2B131ED-A583-4061-A417-B080E01A145D}" type="datetimeFigureOut">
              <a:rPr lang="en-US" smtClean="0"/>
              <a:pPr/>
              <a:t>11/17/2025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D99F3BD-1FCE-4A3E-B324-A1CB1BAD6043}"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536123"/>
            <a:ext cx="5486400" cy="535515"/>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579016"/>
            <a:ext cx="5486400" cy="388810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071638"/>
            <a:ext cx="5486400" cy="76052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2B131ED-A583-4061-A417-B080E01A145D}" type="datetimeFigureOut">
              <a:rPr lang="en-US" smtClean="0"/>
              <a:pPr/>
              <a:t>11/17/2025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D99F3BD-1FCE-4A3E-B324-A1CB1BAD6043}"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2B131ED-A583-4061-A417-B080E01A145D}" type="datetimeFigureOut">
              <a:rPr lang="en-US" smtClean="0"/>
              <a:pPr/>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99F3BD-1FCE-4A3E-B324-A1CB1BAD6043}"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59509"/>
            <a:ext cx="2057400" cy="5529149"/>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59509"/>
            <a:ext cx="6019800" cy="5529149"/>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2B131ED-A583-4061-A417-B080E01A145D}" type="datetimeFigureOut">
              <a:rPr lang="en-US" smtClean="0"/>
              <a:pPr/>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99F3BD-1FCE-4A3E-B324-A1CB1BAD6043}"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59508"/>
            <a:ext cx="8229600" cy="1080029"/>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512042"/>
            <a:ext cx="8229600" cy="4276616"/>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006164"/>
            <a:ext cx="2133600" cy="345009"/>
          </a:xfrm>
          <a:prstGeom prst="rect">
            <a:avLst/>
          </a:prstGeom>
        </p:spPr>
        <p:txBody>
          <a:bodyPr vert="horz" lIns="91440" tIns="45720" rIns="91440" bIns="45720" rtlCol="0" anchor="ctr"/>
          <a:lstStyle>
            <a:lvl1pPr algn="l">
              <a:defRPr sz="1200">
                <a:solidFill>
                  <a:schemeClr val="tx1">
                    <a:tint val="75000"/>
                  </a:schemeClr>
                </a:solidFill>
              </a:defRPr>
            </a:lvl1pPr>
          </a:lstStyle>
          <a:p>
            <a:fld id="{22B131ED-A583-4061-A417-B080E01A145D}" type="datetimeFigureOut">
              <a:rPr lang="en-US" smtClean="0"/>
              <a:pPr/>
              <a:t>11/17/2025</a:t>
            </a:fld>
            <a:endParaRPr lang="en-US"/>
          </a:p>
        </p:txBody>
      </p:sp>
      <p:sp>
        <p:nvSpPr>
          <p:cNvPr id="5" name="Footer Placeholder 4"/>
          <p:cNvSpPr>
            <a:spLocks noGrp="1"/>
          </p:cNvSpPr>
          <p:nvPr>
            <p:ph type="ftr" sz="quarter" idx="3"/>
          </p:nvPr>
        </p:nvSpPr>
        <p:spPr>
          <a:xfrm>
            <a:off x="3124200" y="6006164"/>
            <a:ext cx="2895600" cy="345009"/>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006164"/>
            <a:ext cx="2133600" cy="345009"/>
          </a:xfrm>
          <a:prstGeom prst="rect">
            <a:avLst/>
          </a:prstGeom>
        </p:spPr>
        <p:txBody>
          <a:bodyPr vert="horz" lIns="91440" tIns="45720" rIns="91440" bIns="45720" rtlCol="0" anchor="ctr"/>
          <a:lstStyle>
            <a:lvl1pPr algn="r">
              <a:defRPr sz="1200">
                <a:solidFill>
                  <a:schemeClr val="tx1">
                    <a:tint val="75000"/>
                  </a:schemeClr>
                </a:solidFill>
              </a:defRPr>
            </a:lvl1pPr>
          </a:lstStyle>
          <a:p>
            <a:fld id="{4D99F3BD-1FCE-4A3E-B324-A1CB1BAD6043}"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hyperlink" Target="mailto:thirumurugan.j143@gmail.com" TargetMode="External"/><Relationship Id="rId5" Type="http://schemas.openxmlformats.org/officeDocument/2006/relationships/hyperlink" Target="mailto:sainanthan2003@gmail.com" TargetMode="Externa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30.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29.png"/><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34.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35.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EFD1"/>
            </a:gs>
            <a:gs pos="64999">
              <a:srgbClr val="F0EBD5"/>
            </a:gs>
            <a:gs pos="100000">
              <a:srgbClr val="D1C39F"/>
            </a:gs>
          </a:gsLst>
          <a:lin ang="5400000" scaled="0"/>
        </a:gradFill>
        <a:effectLst/>
      </p:bgPr>
    </p:bg>
    <p:spTree>
      <p:nvGrpSpPr>
        <p:cNvPr id="1" name=""/>
        <p:cNvGrpSpPr/>
        <p:nvPr/>
      </p:nvGrpSpPr>
      <p:grpSpPr>
        <a:xfrm>
          <a:off x="0" y="0"/>
          <a:ext cx="0" cy="0"/>
          <a:chOff x="0" y="0"/>
          <a:chExt cx="0" cy="0"/>
        </a:xfrm>
      </p:grpSpPr>
      <p:pic>
        <p:nvPicPr>
          <p:cNvPr id="6" name="Picture 5" descr="pngegg (54).png"/>
          <p:cNvPicPr>
            <a:picLocks noChangeAspect="1"/>
          </p:cNvPicPr>
          <p:nvPr/>
        </p:nvPicPr>
        <p:blipFill>
          <a:blip r:embed="rId3" cstate="print"/>
          <a:srcRect l="14612"/>
          <a:stretch>
            <a:fillRect/>
          </a:stretch>
        </p:blipFill>
        <p:spPr>
          <a:xfrm>
            <a:off x="5436096" y="1499523"/>
            <a:ext cx="4075130" cy="5268956"/>
          </a:xfrm>
          <a:prstGeom prst="rect">
            <a:avLst/>
          </a:prstGeom>
        </p:spPr>
      </p:pic>
      <p:sp>
        <p:nvSpPr>
          <p:cNvPr id="2" name="Title 1"/>
          <p:cNvSpPr>
            <a:spLocks noGrp="1"/>
          </p:cNvSpPr>
          <p:nvPr>
            <p:ph type="ctrTitle"/>
          </p:nvPr>
        </p:nvSpPr>
        <p:spPr>
          <a:xfrm>
            <a:off x="683568" y="178249"/>
            <a:ext cx="7772400" cy="1389038"/>
          </a:xfrm>
        </p:spPr>
        <p:txBody>
          <a:bodyPr/>
          <a:lstStyle/>
          <a:p>
            <a:r>
              <a:rPr lang="en-IN" b="1" dirty="0" smtClean="0">
                <a:latin typeface="Times New Roman" pitchFamily="18" charset="0"/>
                <a:cs typeface="Times New Roman" pitchFamily="18" charset="0"/>
              </a:rPr>
              <a:t>Customer Data Analysis </a:t>
            </a:r>
            <a:endParaRPr lang="en-US" b="1" dirty="0">
              <a:latin typeface="Times New Roman" pitchFamily="18" charset="0"/>
              <a:cs typeface="Times New Roman" pitchFamily="18" charset="0"/>
            </a:endParaRPr>
          </a:p>
        </p:txBody>
      </p:sp>
      <p:sp>
        <p:nvSpPr>
          <p:cNvPr id="3" name="Subtitle 2"/>
          <p:cNvSpPr>
            <a:spLocks noGrp="1"/>
          </p:cNvSpPr>
          <p:nvPr>
            <p:ph type="subTitle" idx="1"/>
          </p:nvPr>
        </p:nvSpPr>
        <p:spPr>
          <a:xfrm>
            <a:off x="611560" y="1511895"/>
            <a:ext cx="7560840" cy="1079981"/>
          </a:xfrm>
        </p:spPr>
        <p:txBody>
          <a:bodyPr>
            <a:normAutofit fontScale="25000" lnSpcReduction="20000"/>
          </a:bodyPr>
          <a:lstStyle/>
          <a:p>
            <a:r>
              <a:rPr lang="en-IN" sz="12800" b="1" dirty="0" smtClean="0">
                <a:solidFill>
                  <a:srgbClr val="FF0000"/>
                </a:solidFill>
                <a:latin typeface="Arial" pitchFamily="34" charset="0"/>
                <a:cs typeface="Arial" pitchFamily="34" charset="0"/>
              </a:rPr>
              <a:t>Capstone Project</a:t>
            </a:r>
          </a:p>
          <a:p>
            <a:endParaRPr lang="en-IN" sz="6700" b="1" dirty="0" smtClean="0">
              <a:solidFill>
                <a:srgbClr val="FF0000"/>
              </a:solidFill>
              <a:latin typeface="Arial" pitchFamily="34" charset="0"/>
              <a:cs typeface="Arial" pitchFamily="34" charset="0"/>
            </a:endParaRPr>
          </a:p>
          <a:p>
            <a:pPr algn="l"/>
            <a:r>
              <a:rPr lang="en-IN" b="1" dirty="0" smtClean="0">
                <a:solidFill>
                  <a:srgbClr val="FF0000"/>
                </a:solidFill>
                <a:latin typeface="Arial" pitchFamily="34" charset="0"/>
                <a:cs typeface="Arial" pitchFamily="34" charset="0"/>
              </a:rPr>
              <a:t>	</a:t>
            </a:r>
            <a:endParaRPr lang="en-IN" sz="5000" b="1" dirty="0" smtClean="0">
              <a:solidFill>
                <a:srgbClr val="FF0000"/>
              </a:solidFill>
              <a:latin typeface="Arial" pitchFamily="34" charset="0"/>
              <a:cs typeface="Arial" pitchFamily="34" charset="0"/>
            </a:endParaRPr>
          </a:p>
          <a:p>
            <a:pPr algn="l"/>
            <a:r>
              <a:rPr lang="en-IN" b="1" dirty="0" smtClean="0">
                <a:solidFill>
                  <a:srgbClr val="FF0000"/>
                </a:solidFill>
                <a:latin typeface="Arial" pitchFamily="34" charset="0"/>
                <a:cs typeface="Arial" pitchFamily="34" charset="0"/>
              </a:rPr>
              <a:t> </a:t>
            </a:r>
            <a:endParaRPr lang="en-US" b="1" dirty="0">
              <a:solidFill>
                <a:srgbClr val="FF0000"/>
              </a:solidFill>
              <a:latin typeface="Arial" pitchFamily="34" charset="0"/>
              <a:cs typeface="Arial" pitchFamily="34" charset="0"/>
            </a:endParaRPr>
          </a:p>
        </p:txBody>
      </p:sp>
      <p:pic>
        <p:nvPicPr>
          <p:cNvPr id="4" name="Picture 3" descr="pngegg (35).png"/>
          <p:cNvPicPr>
            <a:picLocks noChangeAspect="1"/>
          </p:cNvPicPr>
          <p:nvPr/>
        </p:nvPicPr>
        <p:blipFill>
          <a:blip r:embed="rId4" cstate="print"/>
          <a:stretch>
            <a:fillRect/>
          </a:stretch>
        </p:blipFill>
        <p:spPr>
          <a:xfrm>
            <a:off x="362741" y="419423"/>
            <a:ext cx="1040908" cy="983562"/>
          </a:xfrm>
          <a:prstGeom prst="rect">
            <a:avLst/>
          </a:prstGeom>
        </p:spPr>
      </p:pic>
      <p:sp>
        <p:nvSpPr>
          <p:cNvPr id="5" name="Rectangle 4"/>
          <p:cNvSpPr/>
          <p:nvPr/>
        </p:nvSpPr>
        <p:spPr>
          <a:xfrm>
            <a:off x="323528" y="2808039"/>
            <a:ext cx="5832648" cy="2123658"/>
          </a:xfrm>
          <a:prstGeom prst="rect">
            <a:avLst/>
          </a:prstGeom>
        </p:spPr>
        <p:txBody>
          <a:bodyPr wrap="square">
            <a:spAutoFit/>
          </a:bodyPr>
          <a:lstStyle/>
          <a:p>
            <a:r>
              <a:rPr lang="en-IN" sz="2400" b="1" dirty="0" smtClean="0">
                <a:solidFill>
                  <a:srgbClr val="0070C0"/>
                </a:solidFill>
                <a:latin typeface="Arial" pitchFamily="34" charset="0"/>
                <a:cs typeface="Arial" pitchFamily="34" charset="0"/>
              </a:rPr>
              <a:t>   </a:t>
            </a:r>
            <a:r>
              <a:rPr lang="en-IN" sz="2400" b="1" dirty="0" smtClean="0">
                <a:solidFill>
                  <a:srgbClr val="0070C0"/>
                </a:solidFill>
                <a:latin typeface="Times New Roman" pitchFamily="18" charset="0"/>
                <a:cs typeface="Times New Roman" pitchFamily="18" charset="0"/>
              </a:rPr>
              <a:t>Team ID: </a:t>
            </a:r>
            <a:r>
              <a:rPr lang="en-US" sz="1600" dirty="0" smtClean="0">
                <a:latin typeface="Arial" pitchFamily="34" charset="0"/>
                <a:cs typeface="Arial" pitchFamily="34" charset="0"/>
              </a:rPr>
              <a:t>PTID-CDA-NOV-25-884 </a:t>
            </a:r>
            <a:r>
              <a:rPr lang="en-IN" sz="2400" b="1" dirty="0" smtClean="0">
                <a:solidFill>
                  <a:srgbClr val="FF0000"/>
                </a:solidFill>
                <a:latin typeface="Arial" pitchFamily="34" charset="0"/>
                <a:cs typeface="Arial" pitchFamily="34" charset="0"/>
              </a:rPr>
              <a:t/>
            </a:r>
            <a:br>
              <a:rPr lang="en-IN" sz="2400" b="1" dirty="0" smtClean="0">
                <a:solidFill>
                  <a:srgbClr val="FF0000"/>
                </a:solidFill>
                <a:latin typeface="Arial" pitchFamily="34" charset="0"/>
                <a:cs typeface="Arial" pitchFamily="34" charset="0"/>
              </a:rPr>
            </a:br>
            <a:r>
              <a:rPr lang="en-IN" sz="2400" b="1" dirty="0" smtClean="0">
                <a:solidFill>
                  <a:srgbClr val="0070C0"/>
                </a:solidFill>
                <a:latin typeface="Times New Roman" pitchFamily="18" charset="0"/>
                <a:cs typeface="Times New Roman" pitchFamily="18" charset="0"/>
              </a:rPr>
              <a:t>Project ID: </a:t>
            </a:r>
            <a:r>
              <a:rPr lang="en-US" sz="1600" dirty="0" smtClean="0">
                <a:latin typeface="Arial" pitchFamily="34" charset="0"/>
                <a:cs typeface="Arial" pitchFamily="34" charset="0"/>
              </a:rPr>
              <a:t>PRDA-05</a:t>
            </a:r>
            <a:r>
              <a:rPr lang="en-US" dirty="0" smtClean="0"/>
              <a:t> </a:t>
            </a:r>
            <a:endParaRPr lang="en-IN" sz="2400" b="1" dirty="0" smtClean="0">
              <a:solidFill>
                <a:srgbClr val="FF0000"/>
              </a:solidFill>
              <a:latin typeface="Arial" pitchFamily="34" charset="0"/>
              <a:cs typeface="Arial" pitchFamily="34" charset="0"/>
            </a:endParaRPr>
          </a:p>
          <a:p>
            <a:r>
              <a:rPr lang="en-IN" sz="2400" b="1" dirty="0" smtClean="0">
                <a:solidFill>
                  <a:srgbClr val="0070C0"/>
                </a:solidFill>
                <a:latin typeface="Arial" pitchFamily="34" charset="0"/>
                <a:cs typeface="Arial" pitchFamily="34" charset="0"/>
              </a:rPr>
              <a:t>       </a:t>
            </a:r>
            <a:r>
              <a:rPr lang="en-IN" sz="2400" b="1" dirty="0" smtClean="0">
                <a:solidFill>
                  <a:srgbClr val="0070C0"/>
                </a:solidFill>
                <a:latin typeface="Times New Roman" pitchFamily="18" charset="0"/>
                <a:cs typeface="Times New Roman" pitchFamily="18" charset="0"/>
              </a:rPr>
              <a:t>Name: </a:t>
            </a:r>
            <a:r>
              <a:rPr lang="en-IN" dirty="0" err="1" smtClean="0">
                <a:latin typeface="Arial" pitchFamily="34" charset="0"/>
                <a:cs typeface="Arial" pitchFamily="34" charset="0"/>
              </a:rPr>
              <a:t>Sainanthan</a:t>
            </a:r>
            <a:r>
              <a:rPr lang="en-IN" dirty="0" smtClean="0">
                <a:latin typeface="Arial" pitchFamily="34" charset="0"/>
                <a:cs typeface="Arial" pitchFamily="34" charset="0"/>
              </a:rPr>
              <a:t/>
            </a:r>
            <a:br>
              <a:rPr lang="en-IN" dirty="0" smtClean="0">
                <a:latin typeface="Arial" pitchFamily="34" charset="0"/>
                <a:cs typeface="Arial" pitchFamily="34" charset="0"/>
              </a:rPr>
            </a:br>
            <a:r>
              <a:rPr lang="en-IN" dirty="0" smtClean="0">
                <a:latin typeface="Arial" pitchFamily="34" charset="0"/>
                <a:cs typeface="Arial" pitchFamily="34" charset="0"/>
              </a:rPr>
              <a:t>                        </a:t>
            </a:r>
            <a:r>
              <a:rPr lang="en-IN" dirty="0" err="1" smtClean="0">
                <a:latin typeface="Arial" pitchFamily="34" charset="0"/>
                <a:cs typeface="Arial" pitchFamily="34" charset="0"/>
              </a:rPr>
              <a:t>Thirumurugan</a:t>
            </a:r>
            <a:r>
              <a:rPr lang="en-IN" dirty="0" smtClean="0">
                <a:latin typeface="Arial" pitchFamily="34" charset="0"/>
                <a:cs typeface="Arial" pitchFamily="34" charset="0"/>
              </a:rPr>
              <a:t> </a:t>
            </a:r>
            <a:endParaRPr lang="en-IN" sz="2400" b="1" dirty="0" smtClean="0">
              <a:solidFill>
                <a:srgbClr val="FF0000"/>
              </a:solidFill>
              <a:latin typeface="Arial" pitchFamily="34" charset="0"/>
              <a:cs typeface="Arial" pitchFamily="34" charset="0"/>
            </a:endParaRPr>
          </a:p>
          <a:p>
            <a:r>
              <a:rPr lang="en-IN" sz="2400" b="1" dirty="0" smtClean="0">
                <a:solidFill>
                  <a:srgbClr val="0070C0"/>
                </a:solidFill>
                <a:latin typeface="Arial" pitchFamily="34" charset="0"/>
                <a:cs typeface="Arial" pitchFamily="34" charset="0"/>
              </a:rPr>
              <a:t>   </a:t>
            </a:r>
            <a:r>
              <a:rPr lang="en-IN" sz="2400" b="1" dirty="0" smtClean="0">
                <a:solidFill>
                  <a:srgbClr val="0070C0"/>
                </a:solidFill>
                <a:latin typeface="Times New Roman" pitchFamily="18" charset="0"/>
                <a:cs typeface="Times New Roman" pitchFamily="18" charset="0"/>
              </a:rPr>
              <a:t>Email ID: </a:t>
            </a:r>
            <a:r>
              <a:rPr lang="en-IN" b="1" dirty="0" smtClean="0">
                <a:solidFill>
                  <a:srgbClr val="C00000"/>
                </a:solidFill>
                <a:latin typeface="Arial" pitchFamily="34" charset="0"/>
                <a:cs typeface="Arial" pitchFamily="34" charset="0"/>
                <a:hlinkClick r:id="rId5"/>
              </a:rPr>
              <a:t>sainanthan2003@gmail.com</a:t>
            </a:r>
            <a:endParaRPr lang="en-IN" b="1" dirty="0" smtClean="0">
              <a:solidFill>
                <a:srgbClr val="C00000"/>
              </a:solidFill>
              <a:latin typeface="Arial" pitchFamily="34" charset="0"/>
              <a:cs typeface="Arial" pitchFamily="34" charset="0"/>
            </a:endParaRPr>
          </a:p>
          <a:p>
            <a:r>
              <a:rPr lang="en-IN" b="1" dirty="0" smtClean="0">
                <a:solidFill>
                  <a:srgbClr val="C00000"/>
                </a:solidFill>
                <a:latin typeface="Arial" pitchFamily="34" charset="0"/>
                <a:cs typeface="Arial" pitchFamily="34" charset="0"/>
              </a:rPr>
              <a:t>	           </a:t>
            </a:r>
            <a:r>
              <a:rPr lang="en-IN" b="1" dirty="0" smtClean="0">
                <a:solidFill>
                  <a:srgbClr val="C00000"/>
                </a:solidFill>
                <a:latin typeface="Arial" pitchFamily="34" charset="0"/>
                <a:cs typeface="Arial" pitchFamily="34" charset="0"/>
                <a:hlinkClick r:id="rId6"/>
              </a:rPr>
              <a:t>thirumurugan.j143@gmail.com</a:t>
            </a:r>
            <a:endParaRPr lang="en-IN" b="1" dirty="0" smtClean="0">
              <a:solidFill>
                <a:srgbClr val="C00000"/>
              </a:solidFill>
              <a:latin typeface="Arial" pitchFamily="34" charset="0"/>
              <a:cs typeface="Arial" pitchFamily="34" charset="0"/>
            </a:endParaRPr>
          </a:p>
        </p:txBody>
      </p:sp>
    </p:spTree>
  </p:cSld>
  <p:clrMapOvr>
    <a:masterClrMapping/>
  </p:clrMapOvr>
  <p:transition>
    <p:wipe dir="d"/>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EFD1"/>
            </a:gs>
            <a:gs pos="64999">
              <a:srgbClr val="F0EBD5"/>
            </a:gs>
            <a:gs pos="100000">
              <a:srgbClr val="D1C39F"/>
            </a:gs>
          </a:gsLst>
          <a:lin ang="5400000" scaled="0"/>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3568" y="178249"/>
            <a:ext cx="7772400" cy="1389038"/>
          </a:xfrm>
        </p:spPr>
        <p:txBody>
          <a:bodyPr/>
          <a:lstStyle/>
          <a:p>
            <a:r>
              <a:rPr lang="en-IN" b="1" dirty="0" smtClean="0">
                <a:latin typeface="Times New Roman" pitchFamily="18" charset="0"/>
                <a:cs typeface="Times New Roman" pitchFamily="18" charset="0"/>
              </a:rPr>
              <a:t>Customer Data Analysis </a:t>
            </a:r>
            <a:endParaRPr lang="en-US" b="1" dirty="0">
              <a:latin typeface="Times New Roman" pitchFamily="18" charset="0"/>
              <a:cs typeface="Times New Roman" pitchFamily="18" charset="0"/>
            </a:endParaRPr>
          </a:p>
        </p:txBody>
      </p:sp>
      <p:sp>
        <p:nvSpPr>
          <p:cNvPr id="3" name="Subtitle 2"/>
          <p:cNvSpPr>
            <a:spLocks noGrp="1"/>
          </p:cNvSpPr>
          <p:nvPr>
            <p:ph type="subTitle" idx="1"/>
          </p:nvPr>
        </p:nvSpPr>
        <p:spPr>
          <a:xfrm>
            <a:off x="467544" y="1511895"/>
            <a:ext cx="8424936" cy="4608512"/>
          </a:xfrm>
        </p:spPr>
        <p:txBody>
          <a:bodyPr>
            <a:normAutofit/>
          </a:bodyPr>
          <a:lstStyle/>
          <a:p>
            <a:r>
              <a:rPr lang="en-US" b="1" dirty="0" smtClean="0">
                <a:solidFill>
                  <a:srgbClr val="FF0000"/>
                </a:solidFill>
                <a:latin typeface="Arial" pitchFamily="34" charset="0"/>
                <a:cs typeface="Arial" pitchFamily="34" charset="0"/>
              </a:rPr>
              <a:t>Project Overview</a:t>
            </a:r>
          </a:p>
          <a:p>
            <a:pPr algn="just"/>
            <a:r>
              <a:rPr lang="en-US" sz="1800" dirty="0" smtClean="0">
                <a:solidFill>
                  <a:schemeClr val="tx1">
                    <a:lumMod val="75000"/>
                    <a:lumOff val="25000"/>
                  </a:schemeClr>
                </a:solidFill>
              </a:rPr>
              <a:t>This project analyzes real customer shopping transactions across multiple malls using SQL for data exploration and Power BI for interactive visualizations. The goal is to understand customer behavior, identify revenue drivers, and provide insights that help businesses optimize marketing, inventory, and customer engagement strategies.</a:t>
            </a:r>
          </a:p>
          <a:p>
            <a:pPr algn="l"/>
            <a:r>
              <a:rPr lang="en-US" sz="2000" b="1" dirty="0" smtClean="0">
                <a:solidFill>
                  <a:schemeClr val="tx1"/>
                </a:solidFill>
                <a:latin typeface="Arial" pitchFamily="34" charset="0"/>
                <a:cs typeface="Arial" pitchFamily="34" charset="0"/>
              </a:rPr>
              <a:t>Key Focus Areas :</a:t>
            </a:r>
          </a:p>
          <a:p>
            <a:pPr algn="l"/>
            <a:r>
              <a:rPr lang="en-US" sz="2000" dirty="0" smtClean="0">
                <a:solidFill>
                  <a:schemeClr val="tx1">
                    <a:lumMod val="75000"/>
                    <a:lumOff val="25000"/>
                  </a:schemeClr>
                </a:solidFill>
                <a:latin typeface="Arial" pitchFamily="34" charset="0"/>
                <a:cs typeface="Arial" pitchFamily="34" charset="0"/>
              </a:rPr>
              <a:t>	</a:t>
            </a:r>
            <a:r>
              <a:rPr lang="en-US" sz="2000" dirty="0" smtClean="0"/>
              <a:t> </a:t>
            </a:r>
            <a:r>
              <a:rPr lang="en-US" sz="2000" dirty="0" smtClean="0">
                <a:solidFill>
                  <a:srgbClr val="C00000"/>
                </a:solidFill>
              </a:rPr>
              <a:t>➤</a:t>
            </a:r>
            <a:r>
              <a:rPr lang="en-US" sz="2000" dirty="0" smtClean="0"/>
              <a:t> </a:t>
            </a:r>
            <a:r>
              <a:rPr lang="en-US" sz="2000" dirty="0" smtClean="0">
                <a:solidFill>
                  <a:schemeClr val="tx1">
                    <a:lumMod val="75000"/>
                    <a:lumOff val="25000"/>
                  </a:schemeClr>
                </a:solidFill>
                <a:latin typeface="Arial" pitchFamily="34" charset="0"/>
                <a:cs typeface="Arial" pitchFamily="34" charset="0"/>
              </a:rPr>
              <a:t>Gender-based buying patterns.</a:t>
            </a:r>
          </a:p>
          <a:p>
            <a:pPr algn="l"/>
            <a:r>
              <a:rPr lang="en-US" sz="2000" dirty="0" smtClean="0">
                <a:solidFill>
                  <a:schemeClr val="tx1">
                    <a:lumMod val="75000"/>
                    <a:lumOff val="25000"/>
                  </a:schemeClr>
                </a:solidFill>
                <a:latin typeface="Arial" pitchFamily="34" charset="0"/>
                <a:cs typeface="Arial" pitchFamily="34" charset="0"/>
              </a:rPr>
              <a:t>	</a:t>
            </a:r>
            <a:r>
              <a:rPr lang="en-US" sz="2000" dirty="0" smtClean="0"/>
              <a:t> </a:t>
            </a:r>
            <a:r>
              <a:rPr lang="en-US" sz="2000" dirty="0" smtClean="0">
                <a:solidFill>
                  <a:srgbClr val="C00000"/>
                </a:solidFill>
              </a:rPr>
              <a:t>➤</a:t>
            </a:r>
            <a:r>
              <a:rPr lang="en-US" sz="2000" dirty="0" smtClean="0"/>
              <a:t> </a:t>
            </a:r>
            <a:r>
              <a:rPr lang="en-US" sz="2000" dirty="0" smtClean="0">
                <a:solidFill>
                  <a:schemeClr val="tx1">
                    <a:lumMod val="75000"/>
                    <a:lumOff val="25000"/>
                  </a:schemeClr>
                </a:solidFill>
                <a:latin typeface="Arial" pitchFamily="34" charset="0"/>
                <a:cs typeface="Arial" pitchFamily="34" charset="0"/>
              </a:rPr>
              <a:t>Age-wise customer performance.</a:t>
            </a:r>
          </a:p>
          <a:p>
            <a:pPr algn="l"/>
            <a:r>
              <a:rPr lang="en-US" sz="2000" dirty="0" smtClean="0">
                <a:solidFill>
                  <a:schemeClr val="tx1">
                    <a:lumMod val="75000"/>
                    <a:lumOff val="25000"/>
                  </a:schemeClr>
                </a:solidFill>
                <a:latin typeface="Arial" pitchFamily="34" charset="0"/>
                <a:cs typeface="Arial" pitchFamily="34" charset="0"/>
              </a:rPr>
              <a:t>	</a:t>
            </a:r>
            <a:r>
              <a:rPr lang="en-US" sz="2000" dirty="0" smtClean="0"/>
              <a:t> </a:t>
            </a:r>
            <a:r>
              <a:rPr lang="en-US" sz="2000" dirty="0" smtClean="0">
                <a:solidFill>
                  <a:srgbClr val="C00000"/>
                </a:solidFill>
              </a:rPr>
              <a:t>➤</a:t>
            </a:r>
            <a:r>
              <a:rPr lang="en-US" sz="2000" dirty="0" smtClean="0"/>
              <a:t> </a:t>
            </a:r>
            <a:r>
              <a:rPr lang="en-US" sz="2000" dirty="0" smtClean="0">
                <a:solidFill>
                  <a:schemeClr val="tx1">
                    <a:lumMod val="75000"/>
                    <a:lumOff val="25000"/>
                  </a:schemeClr>
                </a:solidFill>
                <a:latin typeface="Arial" pitchFamily="34" charset="0"/>
                <a:cs typeface="Arial" pitchFamily="34" charset="0"/>
              </a:rPr>
              <a:t>Category-level revenue and sales insights.</a:t>
            </a:r>
          </a:p>
          <a:p>
            <a:pPr algn="l"/>
            <a:r>
              <a:rPr lang="en-US" sz="2000" dirty="0" smtClean="0">
                <a:solidFill>
                  <a:schemeClr val="tx1">
                    <a:lumMod val="75000"/>
                    <a:lumOff val="25000"/>
                  </a:schemeClr>
                </a:solidFill>
                <a:latin typeface="Arial" pitchFamily="34" charset="0"/>
                <a:cs typeface="Arial" pitchFamily="34" charset="0"/>
              </a:rPr>
              <a:t>	</a:t>
            </a:r>
            <a:r>
              <a:rPr lang="en-US" sz="2000" dirty="0" smtClean="0"/>
              <a:t> </a:t>
            </a:r>
            <a:r>
              <a:rPr lang="en-US" sz="2000" dirty="0" smtClean="0">
                <a:solidFill>
                  <a:srgbClr val="C00000"/>
                </a:solidFill>
              </a:rPr>
              <a:t>➤</a:t>
            </a:r>
            <a:r>
              <a:rPr lang="en-US" sz="2000" dirty="0" smtClean="0"/>
              <a:t> </a:t>
            </a:r>
            <a:r>
              <a:rPr lang="en-US" sz="2000" dirty="0" smtClean="0">
                <a:solidFill>
                  <a:schemeClr val="tx1">
                    <a:lumMod val="75000"/>
                    <a:lumOff val="25000"/>
                  </a:schemeClr>
                </a:solidFill>
                <a:latin typeface="Arial" pitchFamily="34" charset="0"/>
                <a:cs typeface="Arial" pitchFamily="34" charset="0"/>
              </a:rPr>
              <a:t>Payment method usage and preferences.</a:t>
            </a:r>
          </a:p>
          <a:p>
            <a:pPr algn="l"/>
            <a:r>
              <a:rPr lang="en-US" sz="2000" dirty="0" smtClean="0">
                <a:solidFill>
                  <a:schemeClr val="tx1">
                    <a:lumMod val="75000"/>
                    <a:lumOff val="25000"/>
                  </a:schemeClr>
                </a:solidFill>
                <a:latin typeface="Arial" pitchFamily="34" charset="0"/>
                <a:cs typeface="Arial" pitchFamily="34" charset="0"/>
              </a:rPr>
              <a:t>	</a:t>
            </a:r>
            <a:r>
              <a:rPr lang="en-US" sz="2000" dirty="0" smtClean="0"/>
              <a:t> </a:t>
            </a:r>
            <a:r>
              <a:rPr lang="en-US" sz="2000" dirty="0" smtClean="0">
                <a:solidFill>
                  <a:srgbClr val="C00000"/>
                </a:solidFill>
              </a:rPr>
              <a:t>➤</a:t>
            </a:r>
            <a:r>
              <a:rPr lang="en-US" sz="2000" dirty="0" smtClean="0"/>
              <a:t> </a:t>
            </a:r>
            <a:r>
              <a:rPr lang="en-US" sz="2000" dirty="0" smtClean="0">
                <a:solidFill>
                  <a:schemeClr val="tx1">
                    <a:lumMod val="75000"/>
                    <a:lumOff val="25000"/>
                  </a:schemeClr>
                </a:solidFill>
                <a:latin typeface="Arial" pitchFamily="34" charset="0"/>
                <a:cs typeface="Arial" pitchFamily="34" charset="0"/>
              </a:rPr>
              <a:t>Monthly revenue trends and seasonality.</a:t>
            </a:r>
          </a:p>
          <a:p>
            <a:pPr algn="just"/>
            <a:endParaRPr lang="en-US" sz="2000" dirty="0" smtClean="0"/>
          </a:p>
          <a:p>
            <a:pPr algn="just"/>
            <a:endParaRPr lang="en-US" sz="2000" b="1" dirty="0" smtClean="0">
              <a:solidFill>
                <a:schemeClr val="tx1"/>
              </a:solidFill>
              <a:latin typeface="Arial" pitchFamily="34" charset="0"/>
              <a:cs typeface="Arial" pitchFamily="34" charset="0"/>
            </a:endParaRPr>
          </a:p>
        </p:txBody>
      </p:sp>
      <p:pic>
        <p:nvPicPr>
          <p:cNvPr id="4" name="Picture 3" descr="pngegg (35).png"/>
          <p:cNvPicPr>
            <a:picLocks noChangeAspect="1"/>
          </p:cNvPicPr>
          <p:nvPr/>
        </p:nvPicPr>
        <p:blipFill>
          <a:blip r:embed="rId3" cstate="print"/>
          <a:stretch>
            <a:fillRect/>
          </a:stretch>
        </p:blipFill>
        <p:spPr>
          <a:xfrm>
            <a:off x="362741" y="419423"/>
            <a:ext cx="1040908" cy="983562"/>
          </a:xfrm>
          <a:prstGeom prst="rect">
            <a:avLst/>
          </a:prstGeom>
        </p:spPr>
      </p:pic>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EFD1"/>
            </a:gs>
            <a:gs pos="64999">
              <a:srgbClr val="F0EBD5"/>
            </a:gs>
            <a:gs pos="100000">
              <a:srgbClr val="D1C39F"/>
            </a:gs>
          </a:gsLst>
          <a:lin ang="5400000" scaled="0"/>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3568" y="178249"/>
            <a:ext cx="7772400" cy="1389038"/>
          </a:xfrm>
        </p:spPr>
        <p:txBody>
          <a:bodyPr/>
          <a:lstStyle/>
          <a:p>
            <a:r>
              <a:rPr lang="en-IN" b="1" dirty="0" smtClean="0">
                <a:latin typeface="Times New Roman" pitchFamily="18" charset="0"/>
                <a:cs typeface="Times New Roman" pitchFamily="18" charset="0"/>
              </a:rPr>
              <a:t>Customer Data Analysis </a:t>
            </a:r>
            <a:endParaRPr lang="en-US" b="1" dirty="0">
              <a:latin typeface="Times New Roman" pitchFamily="18" charset="0"/>
              <a:cs typeface="Times New Roman" pitchFamily="18" charset="0"/>
            </a:endParaRPr>
          </a:p>
        </p:txBody>
      </p:sp>
      <p:sp>
        <p:nvSpPr>
          <p:cNvPr id="3" name="Subtitle 2"/>
          <p:cNvSpPr>
            <a:spLocks noGrp="1"/>
          </p:cNvSpPr>
          <p:nvPr>
            <p:ph type="subTitle" idx="1"/>
          </p:nvPr>
        </p:nvSpPr>
        <p:spPr>
          <a:xfrm>
            <a:off x="251520" y="1727919"/>
            <a:ext cx="8640960" cy="2304256"/>
          </a:xfrm>
        </p:spPr>
        <p:txBody>
          <a:bodyPr>
            <a:normAutofit fontScale="92500" lnSpcReduction="10000"/>
          </a:bodyPr>
          <a:lstStyle/>
          <a:p>
            <a:pPr algn="l"/>
            <a:r>
              <a:rPr lang="en-IN" sz="3800" b="1" dirty="0" smtClean="0">
                <a:solidFill>
                  <a:srgbClr val="FF0000"/>
                </a:solidFill>
                <a:latin typeface="Arial" pitchFamily="34" charset="0"/>
                <a:cs typeface="Arial" pitchFamily="34" charset="0"/>
              </a:rPr>
              <a:t>Tools Used :</a:t>
            </a:r>
          </a:p>
          <a:p>
            <a:pPr algn="l"/>
            <a:r>
              <a:rPr lang="en-IN" b="1" dirty="0">
                <a:solidFill>
                  <a:schemeClr val="tx1"/>
                </a:solidFill>
                <a:latin typeface="Arial" pitchFamily="34" charset="0"/>
                <a:cs typeface="Arial" pitchFamily="34" charset="0"/>
              </a:rPr>
              <a:t>	</a:t>
            </a:r>
            <a:r>
              <a:rPr lang="en-IN" sz="2400" b="1" dirty="0" smtClean="0">
                <a:solidFill>
                  <a:schemeClr val="tx1"/>
                </a:solidFill>
                <a:latin typeface="Times New Roman" pitchFamily="18" charset="0"/>
                <a:cs typeface="Times New Roman" pitchFamily="18" charset="0"/>
              </a:rPr>
              <a:t>1. </a:t>
            </a:r>
            <a:r>
              <a:rPr lang="en-US" sz="2400" b="1" dirty="0" smtClean="0">
                <a:solidFill>
                  <a:srgbClr val="C00000"/>
                </a:solidFill>
                <a:latin typeface="Times New Roman" pitchFamily="18" charset="0"/>
                <a:cs typeface="Times New Roman" pitchFamily="18" charset="0"/>
              </a:rPr>
              <a:t>SQL: </a:t>
            </a:r>
            <a:r>
              <a:rPr lang="en-US" sz="2400" dirty="0" smtClean="0">
                <a:solidFill>
                  <a:schemeClr val="tx1">
                    <a:lumMod val="65000"/>
                    <a:lumOff val="35000"/>
                  </a:schemeClr>
                </a:solidFill>
                <a:latin typeface="Times New Roman" pitchFamily="18" charset="0"/>
                <a:cs typeface="Times New Roman" pitchFamily="18" charset="0"/>
              </a:rPr>
              <a:t>Data exploration, querying, aggregations</a:t>
            </a:r>
            <a:r>
              <a:rPr lang="en-US" sz="2400" dirty="0" smtClean="0">
                <a:latin typeface="Times New Roman" pitchFamily="18" charset="0"/>
                <a:cs typeface="Times New Roman" pitchFamily="18" charset="0"/>
              </a:rPr>
              <a:t/>
            </a:r>
            <a:br>
              <a:rPr lang="en-US" sz="2400" dirty="0" smtClean="0">
                <a:latin typeface="Times New Roman" pitchFamily="18" charset="0"/>
                <a:cs typeface="Times New Roman" pitchFamily="18" charset="0"/>
              </a:rPr>
            </a:br>
            <a:r>
              <a:rPr lang="en-US" sz="2400" dirty="0" smtClean="0">
                <a:latin typeface="Times New Roman" pitchFamily="18" charset="0"/>
                <a:cs typeface="Times New Roman" pitchFamily="18" charset="0"/>
              </a:rPr>
              <a:t>	</a:t>
            </a:r>
            <a:r>
              <a:rPr lang="en-US" sz="2400" b="1" dirty="0" smtClean="0">
                <a:solidFill>
                  <a:schemeClr val="tx1"/>
                </a:solidFill>
                <a:latin typeface="Times New Roman" pitchFamily="18" charset="0"/>
                <a:cs typeface="Times New Roman" pitchFamily="18" charset="0"/>
              </a:rPr>
              <a:t>2. </a:t>
            </a:r>
            <a:r>
              <a:rPr lang="en-US" sz="2400" b="1" dirty="0" smtClean="0">
                <a:solidFill>
                  <a:srgbClr val="C00000"/>
                </a:solidFill>
                <a:latin typeface="Times New Roman" pitchFamily="18" charset="0"/>
                <a:cs typeface="Times New Roman" pitchFamily="18" charset="0"/>
              </a:rPr>
              <a:t>Power BI</a:t>
            </a:r>
            <a:r>
              <a:rPr lang="en-US" sz="2400" b="1" dirty="0" smtClean="0">
                <a:latin typeface="Times New Roman" pitchFamily="18" charset="0"/>
                <a:cs typeface="Times New Roman" pitchFamily="18" charset="0"/>
              </a:rPr>
              <a:t>:</a:t>
            </a:r>
            <a:r>
              <a:rPr lang="en-US" sz="2400" dirty="0" smtClean="0">
                <a:latin typeface="Times New Roman" pitchFamily="18" charset="0"/>
                <a:cs typeface="Times New Roman" pitchFamily="18" charset="0"/>
              </a:rPr>
              <a:t> </a:t>
            </a:r>
            <a:r>
              <a:rPr lang="en-US" sz="2400" dirty="0" smtClean="0">
                <a:solidFill>
                  <a:schemeClr val="tx1">
                    <a:lumMod val="65000"/>
                    <a:lumOff val="35000"/>
                  </a:schemeClr>
                </a:solidFill>
                <a:latin typeface="Times New Roman" pitchFamily="18" charset="0"/>
                <a:cs typeface="Times New Roman" pitchFamily="18" charset="0"/>
              </a:rPr>
              <a:t>Dashboard design, visuals, KPI tracking</a:t>
            </a:r>
            <a:r>
              <a:rPr lang="en-US" sz="2400" dirty="0" smtClean="0">
                <a:latin typeface="Times New Roman" pitchFamily="18" charset="0"/>
                <a:cs typeface="Times New Roman" pitchFamily="18" charset="0"/>
              </a:rPr>
              <a:t/>
            </a:r>
            <a:br>
              <a:rPr lang="en-US" sz="2400" dirty="0" smtClean="0">
                <a:latin typeface="Times New Roman" pitchFamily="18" charset="0"/>
                <a:cs typeface="Times New Roman" pitchFamily="18" charset="0"/>
              </a:rPr>
            </a:br>
            <a:r>
              <a:rPr lang="en-US" sz="2400" dirty="0" smtClean="0">
                <a:latin typeface="Times New Roman" pitchFamily="18" charset="0"/>
                <a:cs typeface="Times New Roman" pitchFamily="18" charset="0"/>
              </a:rPr>
              <a:t>	</a:t>
            </a:r>
            <a:r>
              <a:rPr lang="en-US" sz="2400" b="1" dirty="0" smtClean="0">
                <a:solidFill>
                  <a:schemeClr val="tx1"/>
                </a:solidFill>
                <a:latin typeface="Times New Roman" pitchFamily="18" charset="0"/>
                <a:cs typeface="Times New Roman" pitchFamily="18" charset="0"/>
              </a:rPr>
              <a:t>3. </a:t>
            </a:r>
            <a:r>
              <a:rPr lang="en-US" sz="2400" b="1" dirty="0" smtClean="0">
                <a:solidFill>
                  <a:srgbClr val="C00000"/>
                </a:solidFill>
                <a:latin typeface="Times New Roman" pitchFamily="18" charset="0"/>
                <a:cs typeface="Times New Roman" pitchFamily="18" charset="0"/>
              </a:rPr>
              <a:t>Power Query:</a:t>
            </a:r>
            <a:r>
              <a:rPr lang="en-US" sz="2400" dirty="0" smtClean="0">
                <a:solidFill>
                  <a:srgbClr val="C00000"/>
                </a:solidFill>
                <a:latin typeface="Times New Roman" pitchFamily="18" charset="0"/>
                <a:cs typeface="Times New Roman" pitchFamily="18" charset="0"/>
              </a:rPr>
              <a:t> </a:t>
            </a:r>
            <a:r>
              <a:rPr lang="en-US" sz="2400" dirty="0" smtClean="0">
                <a:solidFill>
                  <a:schemeClr val="tx1">
                    <a:lumMod val="65000"/>
                    <a:lumOff val="35000"/>
                  </a:schemeClr>
                </a:solidFill>
                <a:latin typeface="Times New Roman" pitchFamily="18" charset="0"/>
                <a:cs typeface="Times New Roman" pitchFamily="18" charset="0"/>
              </a:rPr>
              <a:t>Data cleaning &amp; transformation</a:t>
            </a:r>
            <a:r>
              <a:rPr lang="en-US" sz="2400" dirty="0" smtClean="0">
                <a:latin typeface="Times New Roman" pitchFamily="18" charset="0"/>
                <a:cs typeface="Times New Roman" pitchFamily="18" charset="0"/>
              </a:rPr>
              <a:t/>
            </a:r>
            <a:br>
              <a:rPr lang="en-US" sz="2400" dirty="0" smtClean="0">
                <a:latin typeface="Times New Roman" pitchFamily="18" charset="0"/>
                <a:cs typeface="Times New Roman" pitchFamily="18" charset="0"/>
              </a:rPr>
            </a:br>
            <a:r>
              <a:rPr lang="en-US" sz="2400" dirty="0" smtClean="0">
                <a:latin typeface="Times New Roman" pitchFamily="18" charset="0"/>
                <a:cs typeface="Times New Roman" pitchFamily="18" charset="0"/>
              </a:rPr>
              <a:t>	</a:t>
            </a:r>
            <a:r>
              <a:rPr lang="en-US" sz="2400" b="1" dirty="0" smtClean="0">
                <a:solidFill>
                  <a:schemeClr val="tx1"/>
                </a:solidFill>
                <a:latin typeface="Times New Roman" pitchFamily="18" charset="0"/>
                <a:cs typeface="Times New Roman" pitchFamily="18" charset="0"/>
              </a:rPr>
              <a:t>4. </a:t>
            </a:r>
            <a:r>
              <a:rPr lang="en-US" sz="2400" b="1" dirty="0" smtClean="0">
                <a:solidFill>
                  <a:srgbClr val="C00000"/>
                </a:solidFill>
                <a:latin typeface="Times New Roman" pitchFamily="18" charset="0"/>
                <a:cs typeface="Times New Roman" pitchFamily="18" charset="0"/>
              </a:rPr>
              <a:t>DAX:</a:t>
            </a:r>
            <a:r>
              <a:rPr lang="en-US" sz="2400" dirty="0" smtClean="0">
                <a:solidFill>
                  <a:srgbClr val="C00000"/>
                </a:solidFill>
                <a:latin typeface="Times New Roman" pitchFamily="18" charset="0"/>
                <a:cs typeface="Times New Roman" pitchFamily="18" charset="0"/>
              </a:rPr>
              <a:t> </a:t>
            </a:r>
            <a:r>
              <a:rPr lang="en-US" sz="2400" dirty="0" smtClean="0">
                <a:solidFill>
                  <a:schemeClr val="tx1">
                    <a:lumMod val="65000"/>
                    <a:lumOff val="35000"/>
                  </a:schemeClr>
                </a:solidFill>
                <a:latin typeface="Times New Roman" pitchFamily="18" charset="0"/>
                <a:cs typeface="Times New Roman" pitchFamily="18" charset="0"/>
              </a:rPr>
              <a:t>Measures for dynamic analysis</a:t>
            </a:r>
            <a:r>
              <a:rPr lang="en-US" sz="2400" dirty="0" smtClean="0">
                <a:latin typeface="Times New Roman" pitchFamily="18" charset="0"/>
                <a:cs typeface="Times New Roman" pitchFamily="18" charset="0"/>
              </a:rPr>
              <a:t/>
            </a:r>
            <a:br>
              <a:rPr lang="en-US" sz="2400" dirty="0" smtClean="0">
                <a:latin typeface="Times New Roman" pitchFamily="18" charset="0"/>
                <a:cs typeface="Times New Roman" pitchFamily="18" charset="0"/>
              </a:rPr>
            </a:br>
            <a:r>
              <a:rPr lang="en-US" sz="2400" dirty="0" smtClean="0">
                <a:latin typeface="Times New Roman" pitchFamily="18" charset="0"/>
                <a:cs typeface="Times New Roman" pitchFamily="18" charset="0"/>
              </a:rPr>
              <a:t>	</a:t>
            </a:r>
            <a:r>
              <a:rPr lang="en-US" sz="2400" b="1" dirty="0" smtClean="0">
                <a:solidFill>
                  <a:schemeClr val="tx1"/>
                </a:solidFill>
                <a:latin typeface="Times New Roman" pitchFamily="18" charset="0"/>
                <a:cs typeface="Times New Roman" pitchFamily="18" charset="0"/>
              </a:rPr>
              <a:t>5. </a:t>
            </a:r>
            <a:r>
              <a:rPr lang="en-US" sz="2400" b="1" dirty="0" smtClean="0">
                <a:solidFill>
                  <a:srgbClr val="C00000"/>
                </a:solidFill>
                <a:latin typeface="Times New Roman" pitchFamily="18" charset="0"/>
                <a:cs typeface="Times New Roman" pitchFamily="18" charset="0"/>
              </a:rPr>
              <a:t>Excel/CSV:</a:t>
            </a:r>
            <a:r>
              <a:rPr lang="en-US" sz="2400" dirty="0" smtClean="0">
                <a:solidFill>
                  <a:srgbClr val="C00000"/>
                </a:solidFill>
                <a:latin typeface="Times New Roman" pitchFamily="18" charset="0"/>
                <a:cs typeface="Times New Roman" pitchFamily="18" charset="0"/>
              </a:rPr>
              <a:t> </a:t>
            </a:r>
            <a:r>
              <a:rPr lang="en-US" sz="2400" dirty="0" smtClean="0">
                <a:solidFill>
                  <a:schemeClr val="tx1">
                    <a:lumMod val="65000"/>
                    <a:lumOff val="35000"/>
                  </a:schemeClr>
                </a:solidFill>
                <a:latin typeface="Times New Roman" pitchFamily="18" charset="0"/>
                <a:cs typeface="Times New Roman" pitchFamily="18" charset="0"/>
              </a:rPr>
              <a:t>Exporting data from SQL</a:t>
            </a:r>
            <a:endParaRPr lang="en-US" sz="2400" b="1" dirty="0">
              <a:solidFill>
                <a:schemeClr val="tx1">
                  <a:lumMod val="65000"/>
                  <a:lumOff val="35000"/>
                </a:schemeClr>
              </a:solidFill>
              <a:latin typeface="Times New Roman" pitchFamily="18" charset="0"/>
              <a:cs typeface="Times New Roman" pitchFamily="18" charset="0"/>
            </a:endParaRPr>
          </a:p>
        </p:txBody>
      </p:sp>
      <p:pic>
        <p:nvPicPr>
          <p:cNvPr id="4" name="Picture 3" descr="pngegg (35).png"/>
          <p:cNvPicPr>
            <a:picLocks noChangeAspect="1"/>
          </p:cNvPicPr>
          <p:nvPr/>
        </p:nvPicPr>
        <p:blipFill>
          <a:blip r:embed="rId3" cstate="print"/>
          <a:stretch>
            <a:fillRect/>
          </a:stretch>
        </p:blipFill>
        <p:spPr>
          <a:xfrm>
            <a:off x="362741" y="419423"/>
            <a:ext cx="1040908" cy="983562"/>
          </a:xfrm>
          <a:prstGeom prst="rect">
            <a:avLst/>
          </a:prstGeom>
        </p:spPr>
      </p:pic>
      <p:pic>
        <p:nvPicPr>
          <p:cNvPr id="5" name="Picture 4" descr="pngegg (45).png"/>
          <p:cNvPicPr>
            <a:picLocks noChangeAspect="1"/>
          </p:cNvPicPr>
          <p:nvPr/>
        </p:nvPicPr>
        <p:blipFill>
          <a:blip r:embed="rId4" cstate="print"/>
          <a:stretch>
            <a:fillRect/>
          </a:stretch>
        </p:blipFill>
        <p:spPr>
          <a:xfrm>
            <a:off x="2915816" y="4315533"/>
            <a:ext cx="2708368" cy="1804874"/>
          </a:xfrm>
          <a:prstGeom prst="rect">
            <a:avLst/>
          </a:prstGeom>
        </p:spPr>
      </p:pic>
      <p:pic>
        <p:nvPicPr>
          <p:cNvPr id="6" name="Picture 5" descr="pngegg (44).png"/>
          <p:cNvPicPr>
            <a:picLocks noChangeAspect="1"/>
          </p:cNvPicPr>
          <p:nvPr/>
        </p:nvPicPr>
        <p:blipFill>
          <a:blip r:embed="rId5" cstate="print"/>
          <a:stretch>
            <a:fillRect/>
          </a:stretch>
        </p:blipFill>
        <p:spPr>
          <a:xfrm>
            <a:off x="5940152" y="4451995"/>
            <a:ext cx="1524396" cy="1524396"/>
          </a:xfrm>
          <a:prstGeom prst="rect">
            <a:avLst/>
          </a:prstGeom>
        </p:spPr>
      </p:pic>
      <p:pic>
        <p:nvPicPr>
          <p:cNvPr id="7" name="Picture 6" descr="pngegg (43).png"/>
          <p:cNvPicPr>
            <a:picLocks noChangeAspect="1"/>
          </p:cNvPicPr>
          <p:nvPr/>
        </p:nvPicPr>
        <p:blipFill>
          <a:blip r:embed="rId6" cstate="print"/>
          <a:stretch>
            <a:fillRect/>
          </a:stretch>
        </p:blipFill>
        <p:spPr>
          <a:xfrm>
            <a:off x="1259632" y="4392215"/>
            <a:ext cx="1440160" cy="1440160"/>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EFD1"/>
            </a:gs>
            <a:gs pos="64999">
              <a:srgbClr val="F0EBD5"/>
            </a:gs>
            <a:gs pos="100000">
              <a:srgbClr val="D1C39F"/>
            </a:gs>
          </a:gsLst>
          <a:lin ang="5400000" scaled="0"/>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3568" y="178249"/>
            <a:ext cx="7772400" cy="1389038"/>
          </a:xfrm>
        </p:spPr>
        <p:txBody>
          <a:bodyPr/>
          <a:lstStyle/>
          <a:p>
            <a:r>
              <a:rPr lang="en-IN" b="1" dirty="0" smtClean="0">
                <a:latin typeface="Times New Roman" pitchFamily="18" charset="0"/>
                <a:cs typeface="Times New Roman" pitchFamily="18" charset="0"/>
              </a:rPr>
              <a:t>Customer Data Analysis </a:t>
            </a:r>
            <a:endParaRPr lang="en-US" b="1" dirty="0">
              <a:latin typeface="Times New Roman" pitchFamily="18" charset="0"/>
              <a:cs typeface="Times New Roman" pitchFamily="18" charset="0"/>
            </a:endParaRPr>
          </a:p>
        </p:txBody>
      </p:sp>
      <p:sp>
        <p:nvSpPr>
          <p:cNvPr id="3" name="Subtitle 2"/>
          <p:cNvSpPr>
            <a:spLocks noGrp="1"/>
          </p:cNvSpPr>
          <p:nvPr>
            <p:ph type="subTitle" idx="1"/>
          </p:nvPr>
        </p:nvSpPr>
        <p:spPr>
          <a:xfrm>
            <a:off x="1403648" y="1511896"/>
            <a:ext cx="6400800" cy="648072"/>
          </a:xfrm>
        </p:spPr>
        <p:txBody>
          <a:bodyPr/>
          <a:lstStyle/>
          <a:p>
            <a:r>
              <a:rPr lang="en-US" b="1" dirty="0" smtClean="0">
                <a:solidFill>
                  <a:srgbClr val="FF0000"/>
                </a:solidFill>
                <a:latin typeface="Arial" pitchFamily="34" charset="0"/>
                <a:cs typeface="Arial" pitchFamily="34" charset="0"/>
              </a:rPr>
              <a:t>Data Preparation Workflow</a:t>
            </a:r>
            <a:endParaRPr lang="en-US" b="1" dirty="0">
              <a:solidFill>
                <a:srgbClr val="FF0000"/>
              </a:solidFill>
              <a:latin typeface="Arial" pitchFamily="34" charset="0"/>
              <a:cs typeface="Arial" pitchFamily="34" charset="0"/>
            </a:endParaRPr>
          </a:p>
        </p:txBody>
      </p:sp>
      <p:pic>
        <p:nvPicPr>
          <p:cNvPr id="4" name="Picture 3" descr="pngegg (35).png"/>
          <p:cNvPicPr>
            <a:picLocks noChangeAspect="1"/>
          </p:cNvPicPr>
          <p:nvPr/>
        </p:nvPicPr>
        <p:blipFill>
          <a:blip r:embed="rId3" cstate="print"/>
          <a:stretch>
            <a:fillRect/>
          </a:stretch>
        </p:blipFill>
        <p:spPr>
          <a:xfrm>
            <a:off x="362741" y="419423"/>
            <a:ext cx="1040908" cy="983562"/>
          </a:xfrm>
          <a:prstGeom prst="rect">
            <a:avLst/>
          </a:prstGeom>
        </p:spPr>
      </p:pic>
      <p:sp>
        <p:nvSpPr>
          <p:cNvPr id="10" name="Oval 9"/>
          <p:cNvSpPr/>
          <p:nvPr/>
        </p:nvSpPr>
        <p:spPr>
          <a:xfrm>
            <a:off x="323528" y="2375991"/>
            <a:ext cx="2448272" cy="108012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IN" dirty="0" smtClean="0"/>
              <a:t>Data Connection</a:t>
            </a:r>
            <a:endParaRPr lang="en-US" dirty="0"/>
          </a:p>
        </p:txBody>
      </p:sp>
      <p:sp>
        <p:nvSpPr>
          <p:cNvPr id="11" name="Oval 10"/>
          <p:cNvSpPr/>
          <p:nvPr/>
        </p:nvSpPr>
        <p:spPr>
          <a:xfrm>
            <a:off x="3275856" y="2375991"/>
            <a:ext cx="2448272" cy="108012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smtClean="0"/>
              <a:t>SQL Data Exploration</a:t>
            </a:r>
            <a:endParaRPr lang="en-US" dirty="0"/>
          </a:p>
        </p:txBody>
      </p:sp>
      <p:sp>
        <p:nvSpPr>
          <p:cNvPr id="12" name="Oval 11"/>
          <p:cNvSpPr/>
          <p:nvPr/>
        </p:nvSpPr>
        <p:spPr>
          <a:xfrm>
            <a:off x="3275856" y="4320207"/>
            <a:ext cx="2448272" cy="108012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smtClean="0"/>
              <a:t>Load into Power BI</a:t>
            </a:r>
            <a:endParaRPr lang="en-US" dirty="0"/>
          </a:p>
        </p:txBody>
      </p:sp>
      <p:sp>
        <p:nvSpPr>
          <p:cNvPr id="13" name="Oval 12"/>
          <p:cNvSpPr/>
          <p:nvPr/>
        </p:nvSpPr>
        <p:spPr>
          <a:xfrm>
            <a:off x="6300192" y="4248199"/>
            <a:ext cx="2448272" cy="108012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smtClean="0"/>
              <a:t>Export to Excel/CSV</a:t>
            </a:r>
            <a:endParaRPr lang="en-US" dirty="0"/>
          </a:p>
        </p:txBody>
      </p:sp>
      <p:sp>
        <p:nvSpPr>
          <p:cNvPr id="14" name="Oval 13"/>
          <p:cNvSpPr/>
          <p:nvPr/>
        </p:nvSpPr>
        <p:spPr>
          <a:xfrm>
            <a:off x="323528" y="4320207"/>
            <a:ext cx="2448272" cy="108012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smtClean="0"/>
              <a:t>Dashboard &amp; Insights</a:t>
            </a:r>
            <a:endParaRPr lang="en-US" dirty="0"/>
          </a:p>
        </p:txBody>
      </p:sp>
      <p:sp>
        <p:nvSpPr>
          <p:cNvPr id="15" name="Oval 14"/>
          <p:cNvSpPr/>
          <p:nvPr/>
        </p:nvSpPr>
        <p:spPr>
          <a:xfrm>
            <a:off x="6300192" y="2303983"/>
            <a:ext cx="2448272" cy="108012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smtClean="0"/>
              <a:t>SQL Analysis (10 Tasks)</a:t>
            </a:r>
            <a:endParaRPr lang="en-US" dirty="0"/>
          </a:p>
        </p:txBody>
      </p:sp>
      <p:sp>
        <p:nvSpPr>
          <p:cNvPr id="19" name="Down Arrow 18"/>
          <p:cNvSpPr/>
          <p:nvPr/>
        </p:nvSpPr>
        <p:spPr>
          <a:xfrm>
            <a:off x="7308304" y="3600127"/>
            <a:ext cx="288032" cy="50405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Left Arrow 19"/>
          <p:cNvSpPr/>
          <p:nvPr/>
        </p:nvSpPr>
        <p:spPr>
          <a:xfrm>
            <a:off x="5796136" y="4752255"/>
            <a:ext cx="360040" cy="216024"/>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Left Arrow 20"/>
          <p:cNvSpPr/>
          <p:nvPr/>
        </p:nvSpPr>
        <p:spPr>
          <a:xfrm>
            <a:off x="2843808" y="4752255"/>
            <a:ext cx="360040" cy="216024"/>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ight Arrow 21"/>
          <p:cNvSpPr/>
          <p:nvPr/>
        </p:nvSpPr>
        <p:spPr>
          <a:xfrm>
            <a:off x="2843808" y="2808039"/>
            <a:ext cx="360040" cy="21602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ight Arrow 22"/>
          <p:cNvSpPr/>
          <p:nvPr/>
        </p:nvSpPr>
        <p:spPr>
          <a:xfrm>
            <a:off x="5796136" y="2808039"/>
            <a:ext cx="432048" cy="21602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EFD1"/>
            </a:gs>
            <a:gs pos="64999">
              <a:srgbClr val="F0EBD5"/>
            </a:gs>
            <a:gs pos="100000">
              <a:srgbClr val="D1C39F"/>
            </a:gs>
          </a:gsLst>
          <a:lin ang="5400000" scaled="0"/>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3568" y="178249"/>
            <a:ext cx="7772400" cy="1389038"/>
          </a:xfrm>
        </p:spPr>
        <p:txBody>
          <a:bodyPr/>
          <a:lstStyle/>
          <a:p>
            <a:r>
              <a:rPr lang="en-IN" b="1" dirty="0" smtClean="0">
                <a:latin typeface="Times New Roman" pitchFamily="18" charset="0"/>
                <a:cs typeface="Times New Roman" pitchFamily="18" charset="0"/>
              </a:rPr>
              <a:t>Customer Data Analysis </a:t>
            </a:r>
            <a:endParaRPr lang="en-US" b="1" dirty="0">
              <a:latin typeface="Times New Roman" pitchFamily="18" charset="0"/>
              <a:cs typeface="Times New Roman" pitchFamily="18" charset="0"/>
            </a:endParaRPr>
          </a:p>
        </p:txBody>
      </p:sp>
      <p:sp>
        <p:nvSpPr>
          <p:cNvPr id="3" name="Subtitle 2"/>
          <p:cNvSpPr>
            <a:spLocks noGrp="1"/>
          </p:cNvSpPr>
          <p:nvPr>
            <p:ph type="subTitle" idx="1"/>
          </p:nvPr>
        </p:nvSpPr>
        <p:spPr>
          <a:xfrm>
            <a:off x="395536" y="1511895"/>
            <a:ext cx="8352928" cy="4824536"/>
          </a:xfrm>
        </p:spPr>
        <p:txBody>
          <a:bodyPr>
            <a:normAutofit fontScale="92500" lnSpcReduction="10000"/>
          </a:bodyPr>
          <a:lstStyle/>
          <a:p>
            <a:r>
              <a:rPr lang="en-US" b="1" dirty="0" smtClean="0">
                <a:solidFill>
                  <a:srgbClr val="FF0000"/>
                </a:solidFill>
                <a:latin typeface="Arial" pitchFamily="34" charset="0"/>
                <a:cs typeface="Arial" pitchFamily="34" charset="0"/>
              </a:rPr>
              <a:t>Business Problem Analyzed</a:t>
            </a:r>
          </a:p>
          <a:p>
            <a:pPr algn="l"/>
            <a:r>
              <a:rPr lang="en-IN" sz="2400" b="1" dirty="0" smtClean="0">
                <a:solidFill>
                  <a:schemeClr val="tx1"/>
                </a:solidFill>
                <a:latin typeface="Arial" pitchFamily="34" charset="0"/>
                <a:cs typeface="Arial" pitchFamily="34" charset="0"/>
              </a:rPr>
              <a:t>Task:</a:t>
            </a:r>
          </a:p>
          <a:p>
            <a:pPr lvl="0" algn="l" fontAlgn="base"/>
            <a:r>
              <a:rPr lang="en-IN" sz="2400" b="1" dirty="0" smtClean="0">
                <a:solidFill>
                  <a:schemeClr val="tx1"/>
                </a:solidFill>
                <a:latin typeface="Arial" pitchFamily="34" charset="0"/>
                <a:cs typeface="Arial" pitchFamily="34" charset="0"/>
              </a:rPr>
              <a:t>   </a:t>
            </a:r>
            <a:r>
              <a:rPr lang="en-IN" sz="2400" dirty="0" smtClean="0">
                <a:solidFill>
                  <a:srgbClr val="C00000"/>
                </a:solidFill>
                <a:latin typeface="Times New Roman" pitchFamily="18" charset="0"/>
                <a:cs typeface="Times New Roman" pitchFamily="18" charset="0"/>
              </a:rPr>
              <a:t>1.How </a:t>
            </a:r>
            <a:r>
              <a:rPr lang="en-IN" sz="2400" dirty="0">
                <a:solidFill>
                  <a:srgbClr val="C00000"/>
                </a:solidFill>
                <a:latin typeface="Times New Roman" pitchFamily="18" charset="0"/>
                <a:cs typeface="Times New Roman" pitchFamily="18" charset="0"/>
              </a:rPr>
              <a:t>is the shopping distribution according to gender? </a:t>
            </a:r>
          </a:p>
          <a:p>
            <a:pPr lvl="0" algn="l" fontAlgn="base"/>
            <a:r>
              <a:rPr lang="en-IN" sz="2400" dirty="0">
                <a:solidFill>
                  <a:srgbClr val="C00000"/>
                </a:solidFill>
                <a:latin typeface="Times New Roman" pitchFamily="18" charset="0"/>
                <a:cs typeface="Times New Roman" pitchFamily="18" charset="0"/>
              </a:rPr>
              <a:t> </a:t>
            </a:r>
            <a:r>
              <a:rPr lang="en-IN" sz="2400" dirty="0" smtClean="0">
                <a:solidFill>
                  <a:srgbClr val="C00000"/>
                </a:solidFill>
                <a:latin typeface="Times New Roman" pitchFamily="18" charset="0"/>
                <a:cs typeface="Times New Roman" pitchFamily="18" charset="0"/>
              </a:rPr>
              <a:t>  2.Which </a:t>
            </a:r>
            <a:r>
              <a:rPr lang="en-IN" sz="2400" dirty="0">
                <a:solidFill>
                  <a:srgbClr val="C00000"/>
                </a:solidFill>
                <a:latin typeface="Times New Roman" pitchFamily="18" charset="0"/>
                <a:cs typeface="Times New Roman" pitchFamily="18" charset="0"/>
              </a:rPr>
              <a:t>gender did we sell more products to? </a:t>
            </a:r>
          </a:p>
          <a:p>
            <a:pPr lvl="0" algn="l" fontAlgn="base"/>
            <a:r>
              <a:rPr lang="en-IN" sz="2400" dirty="0" smtClean="0">
                <a:solidFill>
                  <a:srgbClr val="C00000"/>
                </a:solidFill>
                <a:latin typeface="Times New Roman" pitchFamily="18" charset="0"/>
                <a:cs typeface="Times New Roman" pitchFamily="18" charset="0"/>
              </a:rPr>
              <a:t>   3.Which </a:t>
            </a:r>
            <a:r>
              <a:rPr lang="en-IN" sz="2400" dirty="0">
                <a:solidFill>
                  <a:srgbClr val="C00000"/>
                </a:solidFill>
                <a:latin typeface="Times New Roman" pitchFamily="18" charset="0"/>
                <a:cs typeface="Times New Roman" pitchFamily="18" charset="0"/>
              </a:rPr>
              <a:t>gender generated more revenue? </a:t>
            </a:r>
          </a:p>
          <a:p>
            <a:pPr lvl="0" algn="l" fontAlgn="base"/>
            <a:r>
              <a:rPr lang="en-IN" sz="2400" dirty="0" smtClean="0">
                <a:solidFill>
                  <a:srgbClr val="C00000"/>
                </a:solidFill>
                <a:latin typeface="Times New Roman" pitchFamily="18" charset="0"/>
                <a:cs typeface="Times New Roman" pitchFamily="18" charset="0"/>
              </a:rPr>
              <a:t>   4.Distribution </a:t>
            </a:r>
            <a:r>
              <a:rPr lang="en-IN" sz="2400" dirty="0">
                <a:solidFill>
                  <a:srgbClr val="C00000"/>
                </a:solidFill>
                <a:latin typeface="Times New Roman" pitchFamily="18" charset="0"/>
                <a:cs typeface="Times New Roman" pitchFamily="18" charset="0"/>
              </a:rPr>
              <a:t>of purchase categories relative to other columns? </a:t>
            </a:r>
          </a:p>
          <a:p>
            <a:pPr lvl="0" algn="l" fontAlgn="base"/>
            <a:r>
              <a:rPr lang="en-IN" sz="2400" dirty="0" smtClean="0">
                <a:solidFill>
                  <a:srgbClr val="C00000"/>
                </a:solidFill>
                <a:latin typeface="Times New Roman" pitchFamily="18" charset="0"/>
                <a:cs typeface="Times New Roman" pitchFamily="18" charset="0"/>
              </a:rPr>
              <a:t>   5.How </a:t>
            </a:r>
            <a:r>
              <a:rPr lang="en-IN" sz="2400" dirty="0">
                <a:solidFill>
                  <a:srgbClr val="C00000"/>
                </a:solidFill>
                <a:latin typeface="Times New Roman" pitchFamily="18" charset="0"/>
                <a:cs typeface="Times New Roman" pitchFamily="18" charset="0"/>
              </a:rPr>
              <a:t>is the shopping distribution according to age? </a:t>
            </a:r>
          </a:p>
          <a:p>
            <a:pPr lvl="0" algn="l" fontAlgn="base"/>
            <a:r>
              <a:rPr lang="en-IN" sz="2400" dirty="0" smtClean="0">
                <a:solidFill>
                  <a:srgbClr val="C00000"/>
                </a:solidFill>
                <a:latin typeface="Times New Roman" pitchFamily="18" charset="0"/>
                <a:cs typeface="Times New Roman" pitchFamily="18" charset="0"/>
              </a:rPr>
              <a:t>   6.Which </a:t>
            </a:r>
            <a:r>
              <a:rPr lang="en-IN" sz="2400" dirty="0">
                <a:solidFill>
                  <a:srgbClr val="C00000"/>
                </a:solidFill>
                <a:latin typeface="Times New Roman" pitchFamily="18" charset="0"/>
                <a:cs typeface="Times New Roman" pitchFamily="18" charset="0"/>
              </a:rPr>
              <a:t>age cat did we sell more products to? </a:t>
            </a:r>
          </a:p>
          <a:p>
            <a:pPr lvl="0" algn="l" fontAlgn="base"/>
            <a:r>
              <a:rPr lang="en-IN" sz="2400" dirty="0" smtClean="0">
                <a:solidFill>
                  <a:srgbClr val="C00000"/>
                </a:solidFill>
                <a:latin typeface="Times New Roman" pitchFamily="18" charset="0"/>
                <a:cs typeface="Times New Roman" pitchFamily="18" charset="0"/>
              </a:rPr>
              <a:t>   7.Which </a:t>
            </a:r>
            <a:r>
              <a:rPr lang="en-IN" sz="2400" dirty="0">
                <a:solidFill>
                  <a:srgbClr val="C00000"/>
                </a:solidFill>
                <a:latin typeface="Times New Roman" pitchFamily="18" charset="0"/>
                <a:cs typeface="Times New Roman" pitchFamily="18" charset="0"/>
              </a:rPr>
              <a:t>age cat generated more revenue? </a:t>
            </a:r>
          </a:p>
          <a:p>
            <a:pPr lvl="0" algn="l" fontAlgn="base"/>
            <a:r>
              <a:rPr lang="en-IN" sz="2400" dirty="0" smtClean="0">
                <a:solidFill>
                  <a:srgbClr val="C00000"/>
                </a:solidFill>
                <a:latin typeface="Times New Roman" pitchFamily="18" charset="0"/>
                <a:cs typeface="Times New Roman" pitchFamily="18" charset="0"/>
              </a:rPr>
              <a:t>   8.Distribution </a:t>
            </a:r>
            <a:r>
              <a:rPr lang="en-IN" sz="2400" dirty="0">
                <a:solidFill>
                  <a:srgbClr val="C00000"/>
                </a:solidFill>
                <a:latin typeface="Times New Roman" pitchFamily="18" charset="0"/>
                <a:cs typeface="Times New Roman" pitchFamily="18" charset="0"/>
              </a:rPr>
              <a:t>of purchase categories relative to other columns? </a:t>
            </a:r>
          </a:p>
          <a:p>
            <a:pPr lvl="0" algn="l" fontAlgn="base"/>
            <a:r>
              <a:rPr lang="en-IN" sz="2400" dirty="0" smtClean="0">
                <a:solidFill>
                  <a:srgbClr val="C00000"/>
                </a:solidFill>
                <a:latin typeface="Times New Roman" pitchFamily="18" charset="0"/>
                <a:cs typeface="Times New Roman" pitchFamily="18" charset="0"/>
              </a:rPr>
              <a:t>   9.Does </a:t>
            </a:r>
            <a:r>
              <a:rPr lang="en-IN" sz="2400" dirty="0">
                <a:solidFill>
                  <a:srgbClr val="C00000"/>
                </a:solidFill>
                <a:latin typeface="Times New Roman" pitchFamily="18" charset="0"/>
                <a:cs typeface="Times New Roman" pitchFamily="18" charset="0"/>
              </a:rPr>
              <a:t>the payment method have a relation with </a:t>
            </a:r>
            <a:r>
              <a:rPr lang="en-IN" sz="2400" dirty="0" smtClean="0">
                <a:solidFill>
                  <a:srgbClr val="C00000"/>
                </a:solidFill>
                <a:latin typeface="Times New Roman" pitchFamily="18" charset="0"/>
                <a:cs typeface="Times New Roman" pitchFamily="18" charset="0"/>
              </a:rPr>
              <a:t>other columns?</a:t>
            </a:r>
            <a:endParaRPr lang="en-IN" sz="2400" dirty="0">
              <a:solidFill>
                <a:srgbClr val="C00000"/>
              </a:solidFill>
              <a:latin typeface="Times New Roman" pitchFamily="18" charset="0"/>
              <a:cs typeface="Times New Roman" pitchFamily="18" charset="0"/>
            </a:endParaRPr>
          </a:p>
          <a:p>
            <a:pPr lvl="0" algn="l" fontAlgn="base"/>
            <a:r>
              <a:rPr lang="en-IN" sz="2400" dirty="0" smtClean="0">
                <a:solidFill>
                  <a:srgbClr val="C00000"/>
                </a:solidFill>
                <a:latin typeface="Times New Roman" pitchFamily="18" charset="0"/>
                <a:cs typeface="Times New Roman" pitchFamily="18" charset="0"/>
              </a:rPr>
              <a:t> 10.How </a:t>
            </a:r>
            <a:r>
              <a:rPr lang="en-IN" sz="2400" dirty="0">
                <a:solidFill>
                  <a:srgbClr val="C00000"/>
                </a:solidFill>
                <a:latin typeface="Times New Roman" pitchFamily="18" charset="0"/>
                <a:cs typeface="Times New Roman" pitchFamily="18" charset="0"/>
              </a:rPr>
              <a:t>is the distribution of the payment method? </a:t>
            </a:r>
          </a:p>
          <a:p>
            <a:pPr algn="l"/>
            <a:endParaRPr lang="en-US" sz="2400" b="1" dirty="0">
              <a:solidFill>
                <a:schemeClr val="tx1"/>
              </a:solidFill>
              <a:latin typeface="Arial" pitchFamily="34" charset="0"/>
              <a:cs typeface="Arial" pitchFamily="34" charset="0"/>
            </a:endParaRPr>
          </a:p>
        </p:txBody>
      </p:sp>
      <p:pic>
        <p:nvPicPr>
          <p:cNvPr id="4" name="Picture 3" descr="pngegg (35).png"/>
          <p:cNvPicPr>
            <a:picLocks noChangeAspect="1"/>
          </p:cNvPicPr>
          <p:nvPr/>
        </p:nvPicPr>
        <p:blipFill>
          <a:blip r:embed="rId3" cstate="print"/>
          <a:stretch>
            <a:fillRect/>
          </a:stretch>
        </p:blipFill>
        <p:spPr>
          <a:xfrm>
            <a:off x="362741" y="419423"/>
            <a:ext cx="1040908" cy="983562"/>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EFD1"/>
            </a:gs>
            <a:gs pos="64999">
              <a:srgbClr val="F0EBD5"/>
            </a:gs>
            <a:gs pos="100000">
              <a:srgbClr val="D1C39F"/>
            </a:gs>
          </a:gsLst>
          <a:lin ang="5400000" scaled="0"/>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3568" y="178249"/>
            <a:ext cx="7772400" cy="1389038"/>
          </a:xfrm>
        </p:spPr>
        <p:txBody>
          <a:bodyPr/>
          <a:lstStyle/>
          <a:p>
            <a:r>
              <a:rPr lang="en-IN" b="1" dirty="0" smtClean="0">
                <a:latin typeface="Times New Roman" pitchFamily="18" charset="0"/>
                <a:cs typeface="Times New Roman" pitchFamily="18" charset="0"/>
              </a:rPr>
              <a:t>Customer Data Analysis </a:t>
            </a:r>
            <a:endParaRPr lang="en-US" b="1" dirty="0">
              <a:latin typeface="Times New Roman" pitchFamily="18" charset="0"/>
              <a:cs typeface="Times New Roman" pitchFamily="18" charset="0"/>
            </a:endParaRPr>
          </a:p>
        </p:txBody>
      </p:sp>
      <p:sp>
        <p:nvSpPr>
          <p:cNvPr id="3" name="Subtitle 2"/>
          <p:cNvSpPr>
            <a:spLocks noGrp="1"/>
          </p:cNvSpPr>
          <p:nvPr>
            <p:ph type="subTitle" idx="1"/>
          </p:nvPr>
        </p:nvSpPr>
        <p:spPr>
          <a:xfrm>
            <a:off x="179512" y="1439887"/>
            <a:ext cx="8856984" cy="1656045"/>
          </a:xfrm>
        </p:spPr>
        <p:txBody>
          <a:bodyPr/>
          <a:lstStyle/>
          <a:p>
            <a:pPr algn="l"/>
            <a:r>
              <a:rPr lang="en-IN" b="1" dirty="0" smtClean="0">
                <a:solidFill>
                  <a:srgbClr val="FF0000"/>
                </a:solidFill>
                <a:latin typeface="Arial" pitchFamily="34" charset="0"/>
                <a:cs typeface="Arial" pitchFamily="34" charset="0"/>
              </a:rPr>
              <a:t>Problem:</a:t>
            </a:r>
          </a:p>
          <a:p>
            <a:pPr lvl="0" algn="l"/>
            <a:r>
              <a:rPr lang="en-IN" dirty="0">
                <a:solidFill>
                  <a:srgbClr val="FF0000"/>
                </a:solidFill>
                <a:latin typeface="Arial" pitchFamily="34" charset="0"/>
                <a:cs typeface="Arial" pitchFamily="34" charset="0"/>
              </a:rPr>
              <a:t>	</a:t>
            </a:r>
            <a:r>
              <a:rPr lang="en-IN" dirty="0"/>
              <a:t> </a:t>
            </a:r>
            <a:r>
              <a:rPr lang="en-IN" sz="2400" dirty="0">
                <a:solidFill>
                  <a:schemeClr val="tx1">
                    <a:lumMod val="75000"/>
                    <a:lumOff val="25000"/>
                  </a:schemeClr>
                </a:solidFill>
                <a:latin typeface="Times New Roman" pitchFamily="18" charset="0"/>
                <a:cs typeface="Times New Roman" pitchFamily="18" charset="0"/>
              </a:rPr>
              <a:t>How is the shopping distribution according to gender? </a:t>
            </a:r>
          </a:p>
          <a:p>
            <a:pPr algn="l"/>
            <a:endParaRPr lang="en-US" dirty="0">
              <a:solidFill>
                <a:srgbClr val="FF0000"/>
              </a:solidFill>
              <a:latin typeface="Arial" pitchFamily="34" charset="0"/>
              <a:cs typeface="Arial" pitchFamily="34" charset="0"/>
            </a:endParaRPr>
          </a:p>
        </p:txBody>
      </p:sp>
      <p:pic>
        <p:nvPicPr>
          <p:cNvPr id="4" name="Picture 3" descr="pngegg (35).png"/>
          <p:cNvPicPr>
            <a:picLocks noChangeAspect="1"/>
          </p:cNvPicPr>
          <p:nvPr/>
        </p:nvPicPr>
        <p:blipFill>
          <a:blip r:embed="rId3" cstate="print"/>
          <a:stretch>
            <a:fillRect/>
          </a:stretch>
        </p:blipFill>
        <p:spPr>
          <a:xfrm>
            <a:off x="362741" y="419423"/>
            <a:ext cx="1040908" cy="983562"/>
          </a:xfrm>
          <a:prstGeom prst="rect">
            <a:avLst/>
          </a:prstGeom>
        </p:spPr>
      </p:pic>
      <p:pic>
        <p:nvPicPr>
          <p:cNvPr id="5" name="Picture 4" descr="1.png"/>
          <p:cNvPicPr>
            <a:picLocks noChangeAspect="1"/>
          </p:cNvPicPr>
          <p:nvPr/>
        </p:nvPicPr>
        <p:blipFill>
          <a:blip r:embed="rId4" cstate="print"/>
          <a:stretch>
            <a:fillRect/>
          </a:stretch>
        </p:blipFill>
        <p:spPr>
          <a:xfrm>
            <a:off x="683568" y="2808039"/>
            <a:ext cx="3240360" cy="1085008"/>
          </a:xfrm>
          <a:prstGeom prst="rect">
            <a:avLst/>
          </a:prstGeom>
        </p:spPr>
      </p:pic>
      <p:pic>
        <p:nvPicPr>
          <p:cNvPr id="6" name="Picture 5" descr="1p.png"/>
          <p:cNvPicPr>
            <a:picLocks noChangeAspect="1"/>
          </p:cNvPicPr>
          <p:nvPr/>
        </p:nvPicPr>
        <p:blipFill>
          <a:blip r:embed="rId5" cstate="print"/>
          <a:stretch>
            <a:fillRect/>
          </a:stretch>
        </p:blipFill>
        <p:spPr>
          <a:xfrm>
            <a:off x="5436096" y="3024063"/>
            <a:ext cx="3240360" cy="3312368"/>
          </a:xfrm>
          <a:prstGeom prst="rect">
            <a:avLst/>
          </a:prstGeom>
        </p:spPr>
      </p:pic>
      <p:pic>
        <p:nvPicPr>
          <p:cNvPr id="18" name="Picture 17" descr="pngegg (49).png"/>
          <p:cNvPicPr>
            <a:picLocks noChangeAspect="1"/>
          </p:cNvPicPr>
          <p:nvPr/>
        </p:nvPicPr>
        <p:blipFill>
          <a:blip r:embed="rId6" cstate="print">
            <a:lum bright="40000"/>
          </a:blip>
          <a:stretch>
            <a:fillRect/>
          </a:stretch>
        </p:blipFill>
        <p:spPr>
          <a:xfrm>
            <a:off x="467544" y="4320207"/>
            <a:ext cx="4628503" cy="2159968"/>
          </a:xfrm>
          <a:prstGeom prst="rect">
            <a:avLst/>
          </a:prstGeom>
        </p:spPr>
      </p:pic>
      <p:sp>
        <p:nvSpPr>
          <p:cNvPr id="13" name="Rectangle 12"/>
          <p:cNvSpPr/>
          <p:nvPr/>
        </p:nvSpPr>
        <p:spPr>
          <a:xfrm>
            <a:off x="1115616" y="4608239"/>
            <a:ext cx="2880320" cy="1077218"/>
          </a:xfrm>
          <a:prstGeom prst="rect">
            <a:avLst/>
          </a:prstGeom>
        </p:spPr>
        <p:txBody>
          <a:bodyPr wrap="square">
            <a:spAutoFit/>
          </a:bodyPr>
          <a:lstStyle/>
          <a:p>
            <a:pPr algn="ctr"/>
            <a:r>
              <a:rPr lang="en-US" sz="1600" b="1" dirty="0" smtClean="0">
                <a:solidFill>
                  <a:srgbClr val="00B050"/>
                </a:solidFill>
                <a:latin typeface="Arial" pitchFamily="34" charset="0"/>
                <a:cs typeface="Arial" pitchFamily="34" charset="0"/>
              </a:rPr>
              <a:t>One gender dominates shopping activity, showing stronger engagement and higher store interaction.</a:t>
            </a:r>
            <a:endParaRPr lang="en-US" sz="1600" b="1" dirty="0">
              <a:solidFill>
                <a:srgbClr val="00B050"/>
              </a:solidFill>
              <a:latin typeface="Arial" pitchFamily="34" charset="0"/>
              <a:cs typeface="Arial" pitchFamily="34" charset="0"/>
            </a:endParaRPr>
          </a:p>
        </p:txBody>
      </p:sp>
      <p:pic>
        <p:nvPicPr>
          <p:cNvPr id="17" name="Picture 16" descr="pngegg (47).png"/>
          <p:cNvPicPr>
            <a:picLocks noChangeAspect="1"/>
          </p:cNvPicPr>
          <p:nvPr/>
        </p:nvPicPr>
        <p:blipFill>
          <a:blip r:embed="rId7" cstate="print"/>
          <a:stretch>
            <a:fillRect/>
          </a:stretch>
        </p:blipFill>
        <p:spPr>
          <a:xfrm rot="4096798">
            <a:off x="4070444" y="3026563"/>
            <a:ext cx="1160726" cy="1160726"/>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EFD1"/>
            </a:gs>
            <a:gs pos="64999">
              <a:srgbClr val="F0EBD5"/>
            </a:gs>
            <a:gs pos="100000">
              <a:srgbClr val="D1C39F"/>
            </a:gs>
          </a:gsLst>
          <a:lin ang="5400000" scaled="0"/>
        </a:gradFill>
        <a:effectLst/>
      </p:bgPr>
    </p:bg>
    <p:spTree>
      <p:nvGrpSpPr>
        <p:cNvPr id="1" name=""/>
        <p:cNvGrpSpPr/>
        <p:nvPr/>
      </p:nvGrpSpPr>
      <p:grpSpPr>
        <a:xfrm>
          <a:off x="0" y="0"/>
          <a:ext cx="0" cy="0"/>
          <a:chOff x="0" y="0"/>
          <a:chExt cx="0" cy="0"/>
        </a:xfrm>
      </p:grpSpPr>
      <p:pic>
        <p:nvPicPr>
          <p:cNvPr id="11" name="Picture 10" descr="pngegg (49).png"/>
          <p:cNvPicPr>
            <a:picLocks noChangeAspect="1"/>
          </p:cNvPicPr>
          <p:nvPr/>
        </p:nvPicPr>
        <p:blipFill>
          <a:blip r:embed="rId3" cstate="print">
            <a:lum bright="40000"/>
          </a:blip>
          <a:stretch>
            <a:fillRect/>
          </a:stretch>
        </p:blipFill>
        <p:spPr>
          <a:xfrm>
            <a:off x="899592" y="4104183"/>
            <a:ext cx="4248472" cy="2375992"/>
          </a:xfrm>
          <a:prstGeom prst="rect">
            <a:avLst/>
          </a:prstGeom>
        </p:spPr>
      </p:pic>
      <p:sp>
        <p:nvSpPr>
          <p:cNvPr id="2" name="Title 1"/>
          <p:cNvSpPr>
            <a:spLocks noGrp="1"/>
          </p:cNvSpPr>
          <p:nvPr>
            <p:ph type="ctrTitle"/>
          </p:nvPr>
        </p:nvSpPr>
        <p:spPr>
          <a:xfrm>
            <a:off x="683568" y="178249"/>
            <a:ext cx="7772400" cy="1389038"/>
          </a:xfrm>
        </p:spPr>
        <p:txBody>
          <a:bodyPr/>
          <a:lstStyle/>
          <a:p>
            <a:r>
              <a:rPr lang="en-IN" b="1" dirty="0" smtClean="0">
                <a:latin typeface="Times New Roman" pitchFamily="18" charset="0"/>
                <a:cs typeface="Times New Roman" pitchFamily="18" charset="0"/>
              </a:rPr>
              <a:t>Customer Data Analysis </a:t>
            </a:r>
            <a:endParaRPr lang="en-US" b="1" dirty="0">
              <a:latin typeface="Times New Roman" pitchFamily="18" charset="0"/>
              <a:cs typeface="Times New Roman" pitchFamily="18" charset="0"/>
            </a:endParaRPr>
          </a:p>
        </p:txBody>
      </p:sp>
      <p:sp>
        <p:nvSpPr>
          <p:cNvPr id="3" name="Subtitle 2"/>
          <p:cNvSpPr>
            <a:spLocks noGrp="1"/>
          </p:cNvSpPr>
          <p:nvPr>
            <p:ph type="subTitle" idx="1"/>
          </p:nvPr>
        </p:nvSpPr>
        <p:spPr>
          <a:xfrm>
            <a:off x="179512" y="1439887"/>
            <a:ext cx="8712968" cy="1656045"/>
          </a:xfrm>
        </p:spPr>
        <p:txBody>
          <a:bodyPr/>
          <a:lstStyle/>
          <a:p>
            <a:pPr algn="l"/>
            <a:r>
              <a:rPr lang="en-IN" b="1" dirty="0" smtClean="0">
                <a:solidFill>
                  <a:srgbClr val="FF0000"/>
                </a:solidFill>
                <a:latin typeface="Arial" pitchFamily="34" charset="0"/>
                <a:cs typeface="Arial" pitchFamily="34" charset="0"/>
              </a:rPr>
              <a:t>Problem:</a:t>
            </a:r>
          </a:p>
          <a:p>
            <a:pPr algn="l"/>
            <a:r>
              <a:rPr lang="en-IN" dirty="0" smtClean="0">
                <a:solidFill>
                  <a:srgbClr val="FF0000"/>
                </a:solidFill>
                <a:latin typeface="Arial" pitchFamily="34" charset="0"/>
                <a:cs typeface="Arial" pitchFamily="34" charset="0"/>
              </a:rPr>
              <a:t>	</a:t>
            </a:r>
            <a:r>
              <a:rPr lang="en-IN" sz="2400" dirty="0">
                <a:solidFill>
                  <a:schemeClr val="tx1">
                    <a:lumMod val="75000"/>
                    <a:lumOff val="25000"/>
                  </a:schemeClr>
                </a:solidFill>
                <a:latin typeface="Times New Roman" pitchFamily="18" charset="0"/>
                <a:cs typeface="Times New Roman" pitchFamily="18" charset="0"/>
              </a:rPr>
              <a:t>Which gender did we sell more products to? </a:t>
            </a:r>
          </a:p>
          <a:p>
            <a:pPr lvl="0" algn="l"/>
            <a:endParaRPr lang="en-IN" sz="2400" dirty="0" smtClean="0">
              <a:solidFill>
                <a:schemeClr val="tx1">
                  <a:lumMod val="75000"/>
                  <a:lumOff val="25000"/>
                </a:schemeClr>
              </a:solidFill>
              <a:latin typeface="Times New Roman" pitchFamily="18" charset="0"/>
              <a:cs typeface="Times New Roman" pitchFamily="18" charset="0"/>
            </a:endParaRPr>
          </a:p>
          <a:p>
            <a:endParaRPr lang="en-US" dirty="0"/>
          </a:p>
        </p:txBody>
      </p:sp>
      <p:pic>
        <p:nvPicPr>
          <p:cNvPr id="4" name="Picture 3" descr="pngegg (35).png"/>
          <p:cNvPicPr>
            <a:picLocks noChangeAspect="1"/>
          </p:cNvPicPr>
          <p:nvPr/>
        </p:nvPicPr>
        <p:blipFill>
          <a:blip r:embed="rId4" cstate="print"/>
          <a:stretch>
            <a:fillRect/>
          </a:stretch>
        </p:blipFill>
        <p:spPr>
          <a:xfrm>
            <a:off x="362741" y="419423"/>
            <a:ext cx="1040908" cy="983562"/>
          </a:xfrm>
          <a:prstGeom prst="rect">
            <a:avLst/>
          </a:prstGeom>
        </p:spPr>
      </p:pic>
      <p:pic>
        <p:nvPicPr>
          <p:cNvPr id="5" name="Picture 4" descr="2.png"/>
          <p:cNvPicPr>
            <a:picLocks noChangeAspect="1"/>
          </p:cNvPicPr>
          <p:nvPr/>
        </p:nvPicPr>
        <p:blipFill>
          <a:blip r:embed="rId5" cstate="print"/>
          <a:stretch>
            <a:fillRect/>
          </a:stretch>
        </p:blipFill>
        <p:spPr>
          <a:xfrm>
            <a:off x="1115616" y="2808039"/>
            <a:ext cx="2808312" cy="1036076"/>
          </a:xfrm>
          <a:prstGeom prst="rect">
            <a:avLst/>
          </a:prstGeom>
        </p:spPr>
      </p:pic>
      <p:pic>
        <p:nvPicPr>
          <p:cNvPr id="6" name="Picture 5" descr="2p.png"/>
          <p:cNvPicPr>
            <a:picLocks noChangeAspect="1"/>
          </p:cNvPicPr>
          <p:nvPr/>
        </p:nvPicPr>
        <p:blipFill>
          <a:blip r:embed="rId6" cstate="print"/>
          <a:stretch>
            <a:fillRect/>
          </a:stretch>
        </p:blipFill>
        <p:spPr>
          <a:xfrm>
            <a:off x="5652120" y="2808039"/>
            <a:ext cx="2592288" cy="3398815"/>
          </a:xfrm>
          <a:prstGeom prst="rect">
            <a:avLst/>
          </a:prstGeom>
        </p:spPr>
      </p:pic>
      <p:sp>
        <p:nvSpPr>
          <p:cNvPr id="9" name="Rectangle 8"/>
          <p:cNvSpPr/>
          <p:nvPr/>
        </p:nvSpPr>
        <p:spPr>
          <a:xfrm>
            <a:off x="1331640" y="4539133"/>
            <a:ext cx="2880320" cy="1077218"/>
          </a:xfrm>
          <a:prstGeom prst="rect">
            <a:avLst/>
          </a:prstGeom>
        </p:spPr>
        <p:txBody>
          <a:bodyPr wrap="square">
            <a:spAutoFit/>
          </a:bodyPr>
          <a:lstStyle/>
          <a:p>
            <a:pPr algn="ctr"/>
            <a:r>
              <a:rPr lang="en-US" sz="1600" b="1" dirty="0" smtClean="0">
                <a:solidFill>
                  <a:srgbClr val="00B050"/>
                </a:solidFill>
                <a:latin typeface="Arial" pitchFamily="34" charset="0"/>
                <a:cs typeface="Arial" pitchFamily="34" charset="0"/>
              </a:rPr>
              <a:t>Higher product quantity is driven by one gender, indicating stronger purchase frequency.</a:t>
            </a:r>
            <a:endParaRPr lang="en-US" sz="1600" b="1" dirty="0">
              <a:solidFill>
                <a:srgbClr val="00B050"/>
              </a:solidFill>
              <a:latin typeface="Arial" pitchFamily="34" charset="0"/>
              <a:cs typeface="Arial" pitchFamily="34" charset="0"/>
            </a:endParaRPr>
          </a:p>
        </p:txBody>
      </p:sp>
      <p:pic>
        <p:nvPicPr>
          <p:cNvPr id="10" name="Picture 9" descr="pngegg (47).png"/>
          <p:cNvPicPr>
            <a:picLocks noChangeAspect="1"/>
          </p:cNvPicPr>
          <p:nvPr/>
        </p:nvPicPr>
        <p:blipFill>
          <a:blip r:embed="rId7" cstate="print"/>
          <a:stretch>
            <a:fillRect/>
          </a:stretch>
        </p:blipFill>
        <p:spPr>
          <a:xfrm rot="4096798">
            <a:off x="4101798" y="3026563"/>
            <a:ext cx="1160726" cy="1160726"/>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EFD1"/>
            </a:gs>
            <a:gs pos="64999">
              <a:srgbClr val="F0EBD5"/>
            </a:gs>
            <a:gs pos="100000">
              <a:srgbClr val="D1C39F"/>
            </a:gs>
          </a:gsLst>
          <a:lin ang="5400000" scaled="0"/>
        </a:gradFill>
        <a:effectLst/>
      </p:bgPr>
    </p:bg>
    <p:spTree>
      <p:nvGrpSpPr>
        <p:cNvPr id="1" name=""/>
        <p:cNvGrpSpPr/>
        <p:nvPr/>
      </p:nvGrpSpPr>
      <p:grpSpPr>
        <a:xfrm>
          <a:off x="0" y="0"/>
          <a:ext cx="0" cy="0"/>
          <a:chOff x="0" y="0"/>
          <a:chExt cx="0" cy="0"/>
        </a:xfrm>
      </p:grpSpPr>
      <p:pic>
        <p:nvPicPr>
          <p:cNvPr id="13" name="Picture 12" descr="pngegg (49).png"/>
          <p:cNvPicPr>
            <a:picLocks noChangeAspect="1"/>
          </p:cNvPicPr>
          <p:nvPr/>
        </p:nvPicPr>
        <p:blipFill>
          <a:blip r:embed="rId3" cstate="print">
            <a:lum bright="40000"/>
          </a:blip>
          <a:stretch>
            <a:fillRect/>
          </a:stretch>
        </p:blipFill>
        <p:spPr>
          <a:xfrm>
            <a:off x="4895528" y="2447999"/>
            <a:ext cx="4248472" cy="2016224"/>
          </a:xfrm>
          <a:prstGeom prst="rect">
            <a:avLst/>
          </a:prstGeom>
        </p:spPr>
      </p:pic>
      <p:sp>
        <p:nvSpPr>
          <p:cNvPr id="2" name="Title 1"/>
          <p:cNvSpPr>
            <a:spLocks noGrp="1"/>
          </p:cNvSpPr>
          <p:nvPr>
            <p:ph type="ctrTitle"/>
          </p:nvPr>
        </p:nvSpPr>
        <p:spPr>
          <a:xfrm>
            <a:off x="683568" y="178249"/>
            <a:ext cx="7772400" cy="1389038"/>
          </a:xfrm>
        </p:spPr>
        <p:txBody>
          <a:bodyPr/>
          <a:lstStyle/>
          <a:p>
            <a:r>
              <a:rPr lang="en-IN" b="1" dirty="0" smtClean="0">
                <a:latin typeface="Times New Roman" pitchFamily="18" charset="0"/>
                <a:cs typeface="Times New Roman" pitchFamily="18" charset="0"/>
              </a:rPr>
              <a:t>Customer Data Analysis </a:t>
            </a:r>
            <a:endParaRPr lang="en-US" b="1" dirty="0">
              <a:latin typeface="Times New Roman" pitchFamily="18" charset="0"/>
              <a:cs typeface="Times New Roman" pitchFamily="18" charset="0"/>
            </a:endParaRPr>
          </a:p>
        </p:txBody>
      </p:sp>
      <p:sp>
        <p:nvSpPr>
          <p:cNvPr id="3" name="Subtitle 2"/>
          <p:cNvSpPr>
            <a:spLocks noGrp="1"/>
          </p:cNvSpPr>
          <p:nvPr>
            <p:ph type="subTitle" idx="1"/>
          </p:nvPr>
        </p:nvSpPr>
        <p:spPr>
          <a:xfrm>
            <a:off x="179512" y="1440026"/>
            <a:ext cx="8640960" cy="1656045"/>
          </a:xfrm>
        </p:spPr>
        <p:txBody>
          <a:bodyPr/>
          <a:lstStyle/>
          <a:p>
            <a:pPr algn="l"/>
            <a:r>
              <a:rPr lang="en-IN" b="1" dirty="0" smtClean="0">
                <a:solidFill>
                  <a:srgbClr val="FF0000"/>
                </a:solidFill>
                <a:latin typeface="Arial" pitchFamily="34" charset="0"/>
                <a:cs typeface="Arial" pitchFamily="34" charset="0"/>
              </a:rPr>
              <a:t>Problem:</a:t>
            </a:r>
          </a:p>
          <a:p>
            <a:pPr algn="l"/>
            <a:r>
              <a:rPr lang="en-IN" dirty="0" smtClean="0">
                <a:solidFill>
                  <a:srgbClr val="FF0000"/>
                </a:solidFill>
                <a:latin typeface="Arial" pitchFamily="34" charset="0"/>
                <a:cs typeface="Arial" pitchFamily="34" charset="0"/>
              </a:rPr>
              <a:t>	</a:t>
            </a:r>
            <a:r>
              <a:rPr lang="en-IN" sz="2400" dirty="0">
                <a:solidFill>
                  <a:schemeClr val="tx1">
                    <a:lumMod val="75000"/>
                    <a:lumOff val="25000"/>
                  </a:schemeClr>
                </a:solidFill>
                <a:latin typeface="Times New Roman" pitchFamily="18" charset="0"/>
                <a:cs typeface="Times New Roman" pitchFamily="18" charset="0"/>
              </a:rPr>
              <a:t>Which gender generated more revenue? </a:t>
            </a:r>
          </a:p>
          <a:p>
            <a:pPr lvl="0" algn="l"/>
            <a:endParaRPr lang="en-IN" dirty="0" smtClean="0">
              <a:solidFill>
                <a:schemeClr val="tx1">
                  <a:lumMod val="75000"/>
                  <a:lumOff val="25000"/>
                </a:schemeClr>
              </a:solidFill>
              <a:latin typeface="Times New Roman" pitchFamily="18" charset="0"/>
              <a:cs typeface="Times New Roman" pitchFamily="18" charset="0"/>
            </a:endParaRPr>
          </a:p>
          <a:p>
            <a:endParaRPr lang="en-US" dirty="0"/>
          </a:p>
        </p:txBody>
      </p:sp>
      <p:pic>
        <p:nvPicPr>
          <p:cNvPr id="4" name="Picture 3" descr="pngegg (35).png"/>
          <p:cNvPicPr>
            <a:picLocks noChangeAspect="1"/>
          </p:cNvPicPr>
          <p:nvPr/>
        </p:nvPicPr>
        <p:blipFill>
          <a:blip r:embed="rId4" cstate="print"/>
          <a:stretch>
            <a:fillRect/>
          </a:stretch>
        </p:blipFill>
        <p:spPr>
          <a:xfrm>
            <a:off x="362741" y="419423"/>
            <a:ext cx="1040908" cy="983562"/>
          </a:xfrm>
          <a:prstGeom prst="rect">
            <a:avLst/>
          </a:prstGeom>
        </p:spPr>
      </p:pic>
      <p:pic>
        <p:nvPicPr>
          <p:cNvPr id="5" name="Picture 4" descr="3.png"/>
          <p:cNvPicPr>
            <a:picLocks noChangeAspect="1"/>
          </p:cNvPicPr>
          <p:nvPr/>
        </p:nvPicPr>
        <p:blipFill>
          <a:blip r:embed="rId5" cstate="print"/>
          <a:stretch>
            <a:fillRect/>
          </a:stretch>
        </p:blipFill>
        <p:spPr>
          <a:xfrm>
            <a:off x="216543" y="2808039"/>
            <a:ext cx="2555257" cy="864096"/>
          </a:xfrm>
          <a:prstGeom prst="rect">
            <a:avLst/>
          </a:prstGeom>
        </p:spPr>
      </p:pic>
      <p:pic>
        <p:nvPicPr>
          <p:cNvPr id="6" name="Picture 5" descr="3p.png"/>
          <p:cNvPicPr>
            <a:picLocks noChangeAspect="1"/>
          </p:cNvPicPr>
          <p:nvPr/>
        </p:nvPicPr>
        <p:blipFill>
          <a:blip r:embed="rId6" cstate="print"/>
          <a:stretch>
            <a:fillRect/>
          </a:stretch>
        </p:blipFill>
        <p:spPr>
          <a:xfrm>
            <a:off x="2987824" y="4464223"/>
            <a:ext cx="5943172" cy="1800200"/>
          </a:xfrm>
          <a:prstGeom prst="rect">
            <a:avLst/>
          </a:prstGeom>
        </p:spPr>
      </p:pic>
      <p:sp>
        <p:nvSpPr>
          <p:cNvPr id="11" name="Rectangle 10"/>
          <p:cNvSpPr/>
          <p:nvPr/>
        </p:nvSpPr>
        <p:spPr>
          <a:xfrm>
            <a:off x="5364088" y="2708736"/>
            <a:ext cx="2664296" cy="1323439"/>
          </a:xfrm>
          <a:prstGeom prst="rect">
            <a:avLst/>
          </a:prstGeom>
        </p:spPr>
        <p:txBody>
          <a:bodyPr wrap="square">
            <a:spAutoFit/>
          </a:bodyPr>
          <a:lstStyle/>
          <a:p>
            <a:pPr algn="ctr"/>
            <a:r>
              <a:rPr lang="en-US" sz="1600" b="1" dirty="0" smtClean="0">
                <a:solidFill>
                  <a:srgbClr val="00B050"/>
                </a:solidFill>
                <a:latin typeface="Arial" pitchFamily="34" charset="0"/>
                <a:cs typeface="Arial" pitchFamily="34" charset="0"/>
              </a:rPr>
              <a:t>Revenue contribution is higher for </a:t>
            </a:r>
            <a:r>
              <a:rPr lang="en-US" sz="1600" b="1" dirty="0" smtClean="0">
                <a:solidFill>
                  <a:srgbClr val="00B050"/>
                </a:solidFill>
                <a:latin typeface="Arial" pitchFamily="34" charset="0"/>
                <a:cs typeface="Arial" pitchFamily="34" charset="0"/>
              </a:rPr>
              <a:t>female</a:t>
            </a:r>
            <a:r>
              <a:rPr lang="en-US" sz="1600" b="1" dirty="0" smtClean="0">
                <a:solidFill>
                  <a:srgbClr val="00B050"/>
                </a:solidFill>
                <a:latin typeface="Arial" pitchFamily="34" charset="0"/>
                <a:cs typeface="Arial" pitchFamily="34" charset="0"/>
              </a:rPr>
              <a:t> </a:t>
            </a:r>
            <a:r>
              <a:rPr lang="en-US" sz="1600" b="1" dirty="0" smtClean="0">
                <a:solidFill>
                  <a:srgbClr val="00B050"/>
                </a:solidFill>
                <a:latin typeface="Arial" pitchFamily="34" charset="0"/>
                <a:cs typeface="Arial" pitchFamily="34" charset="0"/>
              </a:rPr>
              <a:t>gender, revealing a more valuable customer segment.</a:t>
            </a:r>
            <a:endParaRPr lang="en-US" sz="1600" b="1" dirty="0">
              <a:solidFill>
                <a:srgbClr val="00B050"/>
              </a:solidFill>
              <a:latin typeface="Arial" pitchFamily="34" charset="0"/>
              <a:cs typeface="Arial" pitchFamily="34" charset="0"/>
            </a:endParaRPr>
          </a:p>
        </p:txBody>
      </p:sp>
      <p:pic>
        <p:nvPicPr>
          <p:cNvPr id="12" name="Picture 11" descr="pngegg (47).png"/>
          <p:cNvPicPr>
            <a:picLocks noChangeAspect="1"/>
          </p:cNvPicPr>
          <p:nvPr/>
        </p:nvPicPr>
        <p:blipFill>
          <a:blip r:embed="rId7" cstate="print"/>
          <a:stretch>
            <a:fillRect/>
          </a:stretch>
        </p:blipFill>
        <p:spPr>
          <a:xfrm rot="5702553">
            <a:off x="2798756" y="3348643"/>
            <a:ext cx="1002296" cy="1002296"/>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EFD1"/>
            </a:gs>
            <a:gs pos="64999">
              <a:srgbClr val="F0EBD5"/>
            </a:gs>
            <a:gs pos="100000">
              <a:srgbClr val="D1C39F"/>
            </a:gs>
          </a:gsLst>
          <a:lin ang="5400000" scaled="0"/>
        </a:gradFill>
        <a:effectLst/>
      </p:bgPr>
    </p:bg>
    <p:spTree>
      <p:nvGrpSpPr>
        <p:cNvPr id="1" name=""/>
        <p:cNvGrpSpPr/>
        <p:nvPr/>
      </p:nvGrpSpPr>
      <p:grpSpPr>
        <a:xfrm>
          <a:off x="0" y="0"/>
          <a:ext cx="0" cy="0"/>
          <a:chOff x="0" y="0"/>
          <a:chExt cx="0" cy="0"/>
        </a:xfrm>
      </p:grpSpPr>
      <p:pic>
        <p:nvPicPr>
          <p:cNvPr id="11" name="Picture 10" descr="pngegg (49).png"/>
          <p:cNvPicPr>
            <a:picLocks noChangeAspect="1"/>
          </p:cNvPicPr>
          <p:nvPr/>
        </p:nvPicPr>
        <p:blipFill>
          <a:blip r:embed="rId3" cstate="print">
            <a:lum bright="40000"/>
          </a:blip>
          <a:stretch>
            <a:fillRect/>
          </a:stretch>
        </p:blipFill>
        <p:spPr>
          <a:xfrm>
            <a:off x="899592" y="4536231"/>
            <a:ext cx="4248472" cy="1943944"/>
          </a:xfrm>
          <a:prstGeom prst="rect">
            <a:avLst/>
          </a:prstGeom>
        </p:spPr>
      </p:pic>
      <p:sp>
        <p:nvSpPr>
          <p:cNvPr id="2" name="Title 1"/>
          <p:cNvSpPr>
            <a:spLocks noGrp="1"/>
          </p:cNvSpPr>
          <p:nvPr>
            <p:ph type="ctrTitle"/>
          </p:nvPr>
        </p:nvSpPr>
        <p:spPr>
          <a:xfrm>
            <a:off x="683568" y="178249"/>
            <a:ext cx="7772400" cy="1389038"/>
          </a:xfrm>
        </p:spPr>
        <p:txBody>
          <a:bodyPr/>
          <a:lstStyle/>
          <a:p>
            <a:r>
              <a:rPr lang="en-IN" b="1" dirty="0" smtClean="0">
                <a:latin typeface="Times New Roman" pitchFamily="18" charset="0"/>
                <a:cs typeface="Times New Roman" pitchFamily="18" charset="0"/>
              </a:rPr>
              <a:t>Customer Data Analysis </a:t>
            </a:r>
            <a:endParaRPr lang="en-US" b="1" dirty="0">
              <a:latin typeface="Times New Roman" pitchFamily="18" charset="0"/>
              <a:cs typeface="Times New Roman" pitchFamily="18" charset="0"/>
            </a:endParaRPr>
          </a:p>
        </p:txBody>
      </p:sp>
      <p:sp>
        <p:nvSpPr>
          <p:cNvPr id="3" name="Subtitle 2"/>
          <p:cNvSpPr>
            <a:spLocks noGrp="1"/>
          </p:cNvSpPr>
          <p:nvPr>
            <p:ph type="subTitle" idx="1"/>
          </p:nvPr>
        </p:nvSpPr>
        <p:spPr>
          <a:xfrm>
            <a:off x="179512" y="1439887"/>
            <a:ext cx="8640960" cy="1656045"/>
          </a:xfrm>
        </p:spPr>
        <p:txBody>
          <a:bodyPr/>
          <a:lstStyle/>
          <a:p>
            <a:pPr algn="l"/>
            <a:r>
              <a:rPr lang="en-IN" b="1" dirty="0" smtClean="0">
                <a:solidFill>
                  <a:srgbClr val="FF0000"/>
                </a:solidFill>
                <a:latin typeface="Arial" pitchFamily="34" charset="0"/>
                <a:cs typeface="Arial" pitchFamily="34" charset="0"/>
              </a:rPr>
              <a:t>Problem:</a:t>
            </a:r>
          </a:p>
          <a:p>
            <a:pPr algn="l"/>
            <a:r>
              <a:rPr lang="en-IN" dirty="0" smtClean="0">
                <a:solidFill>
                  <a:srgbClr val="FF0000"/>
                </a:solidFill>
                <a:latin typeface="Arial" pitchFamily="34" charset="0"/>
                <a:cs typeface="Arial" pitchFamily="34" charset="0"/>
              </a:rPr>
              <a:t>	</a:t>
            </a:r>
            <a:r>
              <a:rPr lang="en-IN" sz="2400" dirty="0">
                <a:solidFill>
                  <a:schemeClr val="tx1">
                    <a:lumMod val="75000"/>
                    <a:lumOff val="25000"/>
                  </a:schemeClr>
                </a:solidFill>
                <a:latin typeface="Times New Roman" pitchFamily="18" charset="0"/>
                <a:cs typeface="Times New Roman" pitchFamily="18" charset="0"/>
              </a:rPr>
              <a:t>Distribution of purchase categories relative to other columns? </a:t>
            </a:r>
          </a:p>
          <a:p>
            <a:pPr lvl="0" algn="l"/>
            <a:endParaRPr lang="en-IN" dirty="0" smtClean="0">
              <a:solidFill>
                <a:schemeClr val="tx1">
                  <a:lumMod val="75000"/>
                  <a:lumOff val="25000"/>
                </a:schemeClr>
              </a:solidFill>
              <a:latin typeface="Times New Roman" pitchFamily="18" charset="0"/>
              <a:cs typeface="Times New Roman" pitchFamily="18" charset="0"/>
            </a:endParaRPr>
          </a:p>
          <a:p>
            <a:endParaRPr lang="en-US" dirty="0"/>
          </a:p>
        </p:txBody>
      </p:sp>
      <p:pic>
        <p:nvPicPr>
          <p:cNvPr id="4" name="Picture 3" descr="pngegg (35).png"/>
          <p:cNvPicPr>
            <a:picLocks noChangeAspect="1"/>
          </p:cNvPicPr>
          <p:nvPr/>
        </p:nvPicPr>
        <p:blipFill>
          <a:blip r:embed="rId4" cstate="print"/>
          <a:stretch>
            <a:fillRect/>
          </a:stretch>
        </p:blipFill>
        <p:spPr>
          <a:xfrm>
            <a:off x="362741" y="419423"/>
            <a:ext cx="1040908" cy="983562"/>
          </a:xfrm>
          <a:prstGeom prst="rect">
            <a:avLst/>
          </a:prstGeom>
        </p:spPr>
      </p:pic>
      <p:pic>
        <p:nvPicPr>
          <p:cNvPr id="5" name="Picture 4" descr="4.png"/>
          <p:cNvPicPr>
            <a:picLocks noChangeAspect="1"/>
          </p:cNvPicPr>
          <p:nvPr/>
        </p:nvPicPr>
        <p:blipFill>
          <a:blip r:embed="rId5" cstate="print"/>
          <a:stretch>
            <a:fillRect/>
          </a:stretch>
        </p:blipFill>
        <p:spPr>
          <a:xfrm>
            <a:off x="395536" y="2736031"/>
            <a:ext cx="3436918" cy="1630821"/>
          </a:xfrm>
          <a:prstGeom prst="rect">
            <a:avLst/>
          </a:prstGeom>
        </p:spPr>
      </p:pic>
      <p:pic>
        <p:nvPicPr>
          <p:cNvPr id="6" name="Picture 5" descr="4p.png"/>
          <p:cNvPicPr>
            <a:picLocks noChangeAspect="1"/>
          </p:cNvPicPr>
          <p:nvPr/>
        </p:nvPicPr>
        <p:blipFill>
          <a:blip r:embed="rId6" cstate="print"/>
          <a:stretch>
            <a:fillRect/>
          </a:stretch>
        </p:blipFill>
        <p:spPr>
          <a:xfrm>
            <a:off x="5436096" y="2736031"/>
            <a:ext cx="3240360" cy="3528392"/>
          </a:xfrm>
          <a:prstGeom prst="rect">
            <a:avLst/>
          </a:prstGeom>
        </p:spPr>
      </p:pic>
      <p:sp>
        <p:nvSpPr>
          <p:cNvPr id="9" name="Rectangle 8"/>
          <p:cNvSpPr/>
          <p:nvPr/>
        </p:nvSpPr>
        <p:spPr>
          <a:xfrm>
            <a:off x="1331640" y="4896271"/>
            <a:ext cx="2952328" cy="1077218"/>
          </a:xfrm>
          <a:prstGeom prst="rect">
            <a:avLst/>
          </a:prstGeom>
        </p:spPr>
        <p:txBody>
          <a:bodyPr wrap="square">
            <a:spAutoFit/>
          </a:bodyPr>
          <a:lstStyle/>
          <a:p>
            <a:pPr algn="ctr"/>
            <a:r>
              <a:rPr lang="en-US" sz="1600" b="1" dirty="0" smtClean="0">
                <a:solidFill>
                  <a:srgbClr val="00B050"/>
                </a:solidFill>
                <a:latin typeface="Arial" pitchFamily="34" charset="0"/>
                <a:cs typeface="Arial" pitchFamily="34" charset="0"/>
              </a:rPr>
              <a:t>Top categories consistently outperform others across transaction, items, and revenue.</a:t>
            </a:r>
            <a:endParaRPr lang="en-US" sz="1600" b="1" dirty="0">
              <a:solidFill>
                <a:srgbClr val="00B050"/>
              </a:solidFill>
              <a:latin typeface="Arial" pitchFamily="34" charset="0"/>
              <a:cs typeface="Arial" pitchFamily="34" charset="0"/>
            </a:endParaRPr>
          </a:p>
        </p:txBody>
      </p:sp>
      <p:pic>
        <p:nvPicPr>
          <p:cNvPr id="10" name="Picture 9" descr="pngegg (47).png"/>
          <p:cNvPicPr>
            <a:picLocks noChangeAspect="1"/>
          </p:cNvPicPr>
          <p:nvPr/>
        </p:nvPicPr>
        <p:blipFill>
          <a:blip r:embed="rId7" cstate="print"/>
          <a:stretch>
            <a:fillRect/>
          </a:stretch>
        </p:blipFill>
        <p:spPr>
          <a:xfrm rot="4096798">
            <a:off x="4070444" y="3026563"/>
            <a:ext cx="1160726" cy="1160726"/>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EFD1"/>
            </a:gs>
            <a:gs pos="64999">
              <a:srgbClr val="F0EBD5"/>
            </a:gs>
            <a:gs pos="100000">
              <a:srgbClr val="D1C39F"/>
            </a:gs>
          </a:gsLst>
          <a:lin ang="5400000" scaled="0"/>
        </a:gradFill>
        <a:effectLst/>
      </p:bgPr>
    </p:bg>
    <p:spTree>
      <p:nvGrpSpPr>
        <p:cNvPr id="1" name=""/>
        <p:cNvGrpSpPr/>
        <p:nvPr/>
      </p:nvGrpSpPr>
      <p:grpSpPr>
        <a:xfrm>
          <a:off x="0" y="0"/>
          <a:ext cx="0" cy="0"/>
          <a:chOff x="0" y="0"/>
          <a:chExt cx="0" cy="0"/>
        </a:xfrm>
      </p:grpSpPr>
      <p:pic>
        <p:nvPicPr>
          <p:cNvPr id="12" name="Picture 11" descr="pngegg (49).png"/>
          <p:cNvPicPr>
            <a:picLocks noChangeAspect="1"/>
          </p:cNvPicPr>
          <p:nvPr/>
        </p:nvPicPr>
        <p:blipFill>
          <a:blip r:embed="rId3" cstate="print">
            <a:lum bright="40000"/>
          </a:blip>
          <a:stretch>
            <a:fillRect/>
          </a:stretch>
        </p:blipFill>
        <p:spPr>
          <a:xfrm>
            <a:off x="755576" y="4320207"/>
            <a:ext cx="4248472" cy="2375992"/>
          </a:xfrm>
          <a:prstGeom prst="rect">
            <a:avLst/>
          </a:prstGeom>
        </p:spPr>
      </p:pic>
      <p:sp>
        <p:nvSpPr>
          <p:cNvPr id="2" name="Title 1"/>
          <p:cNvSpPr>
            <a:spLocks noGrp="1"/>
          </p:cNvSpPr>
          <p:nvPr>
            <p:ph type="ctrTitle"/>
          </p:nvPr>
        </p:nvSpPr>
        <p:spPr>
          <a:xfrm>
            <a:off x="683568" y="178249"/>
            <a:ext cx="7772400" cy="1389038"/>
          </a:xfrm>
        </p:spPr>
        <p:txBody>
          <a:bodyPr/>
          <a:lstStyle/>
          <a:p>
            <a:r>
              <a:rPr lang="en-IN" b="1" dirty="0" smtClean="0">
                <a:latin typeface="Times New Roman" pitchFamily="18" charset="0"/>
                <a:cs typeface="Times New Roman" pitchFamily="18" charset="0"/>
              </a:rPr>
              <a:t>Customer Data Analysis </a:t>
            </a:r>
            <a:endParaRPr lang="en-US" b="1" dirty="0">
              <a:latin typeface="Times New Roman" pitchFamily="18" charset="0"/>
              <a:cs typeface="Times New Roman" pitchFamily="18" charset="0"/>
            </a:endParaRPr>
          </a:p>
        </p:txBody>
      </p:sp>
      <p:sp>
        <p:nvSpPr>
          <p:cNvPr id="3" name="Subtitle 2"/>
          <p:cNvSpPr>
            <a:spLocks noGrp="1"/>
          </p:cNvSpPr>
          <p:nvPr>
            <p:ph type="subTitle" idx="1"/>
          </p:nvPr>
        </p:nvSpPr>
        <p:spPr>
          <a:xfrm>
            <a:off x="179512" y="1439887"/>
            <a:ext cx="8604448" cy="1656045"/>
          </a:xfrm>
        </p:spPr>
        <p:txBody>
          <a:bodyPr/>
          <a:lstStyle/>
          <a:p>
            <a:pPr algn="l"/>
            <a:r>
              <a:rPr lang="en-IN" b="1" dirty="0" smtClean="0">
                <a:solidFill>
                  <a:srgbClr val="FF0000"/>
                </a:solidFill>
                <a:latin typeface="Arial" pitchFamily="34" charset="0"/>
                <a:cs typeface="Arial" pitchFamily="34" charset="0"/>
              </a:rPr>
              <a:t>Problem:</a:t>
            </a:r>
          </a:p>
          <a:p>
            <a:pPr algn="l"/>
            <a:r>
              <a:rPr lang="en-IN" dirty="0" smtClean="0">
                <a:solidFill>
                  <a:srgbClr val="FF0000"/>
                </a:solidFill>
                <a:latin typeface="Arial" pitchFamily="34" charset="0"/>
                <a:cs typeface="Arial" pitchFamily="34" charset="0"/>
              </a:rPr>
              <a:t>	</a:t>
            </a:r>
            <a:r>
              <a:rPr lang="en-IN" sz="2400" dirty="0">
                <a:solidFill>
                  <a:schemeClr val="tx1">
                    <a:lumMod val="75000"/>
                    <a:lumOff val="25000"/>
                  </a:schemeClr>
                </a:solidFill>
                <a:latin typeface="Times New Roman" pitchFamily="18" charset="0"/>
                <a:cs typeface="Times New Roman" pitchFamily="18" charset="0"/>
              </a:rPr>
              <a:t>How is the shopping distribution according to age? </a:t>
            </a:r>
          </a:p>
          <a:p>
            <a:pPr lvl="0" algn="l"/>
            <a:endParaRPr lang="en-IN" dirty="0" smtClean="0">
              <a:solidFill>
                <a:schemeClr val="tx1">
                  <a:lumMod val="75000"/>
                  <a:lumOff val="25000"/>
                </a:schemeClr>
              </a:solidFill>
              <a:latin typeface="Times New Roman" pitchFamily="18" charset="0"/>
              <a:cs typeface="Times New Roman" pitchFamily="18" charset="0"/>
            </a:endParaRPr>
          </a:p>
          <a:p>
            <a:endParaRPr lang="en-US" dirty="0"/>
          </a:p>
        </p:txBody>
      </p:sp>
      <p:pic>
        <p:nvPicPr>
          <p:cNvPr id="4" name="Picture 3" descr="pngegg (35).png"/>
          <p:cNvPicPr>
            <a:picLocks noChangeAspect="1"/>
          </p:cNvPicPr>
          <p:nvPr/>
        </p:nvPicPr>
        <p:blipFill>
          <a:blip r:embed="rId4" cstate="print"/>
          <a:stretch>
            <a:fillRect/>
          </a:stretch>
        </p:blipFill>
        <p:spPr>
          <a:xfrm>
            <a:off x="362741" y="419423"/>
            <a:ext cx="1040908" cy="983562"/>
          </a:xfrm>
          <a:prstGeom prst="rect">
            <a:avLst/>
          </a:prstGeom>
        </p:spPr>
      </p:pic>
      <p:pic>
        <p:nvPicPr>
          <p:cNvPr id="6" name="Picture 5" descr="5.png"/>
          <p:cNvPicPr>
            <a:picLocks noChangeAspect="1"/>
          </p:cNvPicPr>
          <p:nvPr/>
        </p:nvPicPr>
        <p:blipFill>
          <a:blip r:embed="rId5" cstate="print"/>
          <a:stretch>
            <a:fillRect/>
          </a:stretch>
        </p:blipFill>
        <p:spPr>
          <a:xfrm>
            <a:off x="827584" y="2736031"/>
            <a:ext cx="3095498" cy="1512168"/>
          </a:xfrm>
          <a:prstGeom prst="rect">
            <a:avLst/>
          </a:prstGeom>
        </p:spPr>
      </p:pic>
      <p:pic>
        <p:nvPicPr>
          <p:cNvPr id="7" name="Picture 6" descr="5p.png"/>
          <p:cNvPicPr>
            <a:picLocks noChangeAspect="1"/>
          </p:cNvPicPr>
          <p:nvPr/>
        </p:nvPicPr>
        <p:blipFill>
          <a:blip r:embed="rId6" cstate="print"/>
          <a:stretch>
            <a:fillRect/>
          </a:stretch>
        </p:blipFill>
        <p:spPr>
          <a:xfrm>
            <a:off x="5508104" y="2736031"/>
            <a:ext cx="2958000" cy="3600400"/>
          </a:xfrm>
          <a:prstGeom prst="rect">
            <a:avLst/>
          </a:prstGeom>
        </p:spPr>
      </p:pic>
      <p:sp>
        <p:nvSpPr>
          <p:cNvPr id="10" name="Rectangle 9"/>
          <p:cNvSpPr/>
          <p:nvPr/>
        </p:nvSpPr>
        <p:spPr>
          <a:xfrm>
            <a:off x="971600" y="4827165"/>
            <a:ext cx="3312368" cy="1077218"/>
          </a:xfrm>
          <a:prstGeom prst="rect">
            <a:avLst/>
          </a:prstGeom>
        </p:spPr>
        <p:txBody>
          <a:bodyPr wrap="square">
            <a:spAutoFit/>
          </a:bodyPr>
          <a:lstStyle/>
          <a:p>
            <a:pPr algn="ctr"/>
            <a:r>
              <a:rPr lang="en-US" sz="1600" b="1" dirty="0" smtClean="0">
                <a:solidFill>
                  <a:srgbClr val="00B050"/>
                </a:solidFill>
                <a:latin typeface="Arial" pitchFamily="34" charset="0"/>
                <a:cs typeface="Arial" pitchFamily="34" charset="0"/>
              </a:rPr>
              <a:t>Specific age groups show the highest shopping participation, shaping key customer demographics.</a:t>
            </a:r>
            <a:endParaRPr lang="en-US" sz="1600" b="1" dirty="0">
              <a:solidFill>
                <a:srgbClr val="00B050"/>
              </a:solidFill>
              <a:latin typeface="Arial" pitchFamily="34" charset="0"/>
              <a:cs typeface="Arial" pitchFamily="34" charset="0"/>
            </a:endParaRPr>
          </a:p>
        </p:txBody>
      </p:sp>
      <p:pic>
        <p:nvPicPr>
          <p:cNvPr id="11" name="Picture 10" descr="pngegg (47).png"/>
          <p:cNvPicPr>
            <a:picLocks noChangeAspect="1"/>
          </p:cNvPicPr>
          <p:nvPr/>
        </p:nvPicPr>
        <p:blipFill>
          <a:blip r:embed="rId7" cstate="print"/>
          <a:stretch>
            <a:fillRect/>
          </a:stretch>
        </p:blipFill>
        <p:spPr>
          <a:xfrm rot="4096798">
            <a:off x="4070444" y="3026563"/>
            <a:ext cx="1160726" cy="1160726"/>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EFD1"/>
            </a:gs>
            <a:gs pos="64999">
              <a:srgbClr val="F0EBD5"/>
            </a:gs>
            <a:gs pos="100000">
              <a:srgbClr val="D1C39F"/>
            </a:gs>
          </a:gsLst>
          <a:lin ang="5400000" scaled="0"/>
        </a:gradFill>
        <a:effectLst/>
      </p:bgPr>
    </p:bg>
    <p:spTree>
      <p:nvGrpSpPr>
        <p:cNvPr id="1" name=""/>
        <p:cNvGrpSpPr/>
        <p:nvPr/>
      </p:nvGrpSpPr>
      <p:grpSpPr>
        <a:xfrm>
          <a:off x="0" y="0"/>
          <a:ext cx="0" cy="0"/>
          <a:chOff x="0" y="0"/>
          <a:chExt cx="0" cy="0"/>
        </a:xfrm>
      </p:grpSpPr>
      <p:pic>
        <p:nvPicPr>
          <p:cNvPr id="13" name="Picture 12" descr="pngegg (49).png"/>
          <p:cNvPicPr>
            <a:picLocks noChangeAspect="1"/>
          </p:cNvPicPr>
          <p:nvPr/>
        </p:nvPicPr>
        <p:blipFill>
          <a:blip r:embed="rId3" cstate="print">
            <a:lum bright="40000"/>
          </a:blip>
          <a:stretch>
            <a:fillRect/>
          </a:stretch>
        </p:blipFill>
        <p:spPr>
          <a:xfrm>
            <a:off x="827584" y="4659715"/>
            <a:ext cx="4032448" cy="1892740"/>
          </a:xfrm>
          <a:prstGeom prst="rect">
            <a:avLst/>
          </a:prstGeom>
        </p:spPr>
      </p:pic>
      <p:sp>
        <p:nvSpPr>
          <p:cNvPr id="2" name="Title 1"/>
          <p:cNvSpPr>
            <a:spLocks noGrp="1"/>
          </p:cNvSpPr>
          <p:nvPr>
            <p:ph type="ctrTitle"/>
          </p:nvPr>
        </p:nvSpPr>
        <p:spPr>
          <a:xfrm>
            <a:off x="683568" y="178249"/>
            <a:ext cx="7772400" cy="1389038"/>
          </a:xfrm>
        </p:spPr>
        <p:txBody>
          <a:bodyPr/>
          <a:lstStyle/>
          <a:p>
            <a:r>
              <a:rPr lang="en-IN" b="1" dirty="0" smtClean="0">
                <a:latin typeface="Times New Roman" pitchFamily="18" charset="0"/>
                <a:cs typeface="Times New Roman" pitchFamily="18" charset="0"/>
              </a:rPr>
              <a:t>Customer Data Analysis </a:t>
            </a:r>
            <a:endParaRPr lang="en-US" b="1" dirty="0">
              <a:latin typeface="Times New Roman" pitchFamily="18" charset="0"/>
              <a:cs typeface="Times New Roman" pitchFamily="18" charset="0"/>
            </a:endParaRPr>
          </a:p>
        </p:txBody>
      </p:sp>
      <p:sp>
        <p:nvSpPr>
          <p:cNvPr id="3" name="Subtitle 2"/>
          <p:cNvSpPr>
            <a:spLocks noGrp="1"/>
          </p:cNvSpPr>
          <p:nvPr>
            <p:ph type="subTitle" idx="1"/>
          </p:nvPr>
        </p:nvSpPr>
        <p:spPr>
          <a:xfrm>
            <a:off x="179512" y="1439887"/>
            <a:ext cx="8568952" cy="1656045"/>
          </a:xfrm>
        </p:spPr>
        <p:txBody>
          <a:bodyPr/>
          <a:lstStyle/>
          <a:p>
            <a:pPr algn="l"/>
            <a:r>
              <a:rPr lang="en-IN" b="1" dirty="0" smtClean="0">
                <a:solidFill>
                  <a:srgbClr val="FF0000"/>
                </a:solidFill>
                <a:latin typeface="Arial" pitchFamily="34" charset="0"/>
                <a:cs typeface="Arial" pitchFamily="34" charset="0"/>
              </a:rPr>
              <a:t>Problem:</a:t>
            </a:r>
          </a:p>
          <a:p>
            <a:pPr algn="l"/>
            <a:r>
              <a:rPr lang="en-IN" dirty="0" smtClean="0">
                <a:solidFill>
                  <a:srgbClr val="FF0000"/>
                </a:solidFill>
                <a:latin typeface="Arial" pitchFamily="34" charset="0"/>
                <a:cs typeface="Arial" pitchFamily="34" charset="0"/>
              </a:rPr>
              <a:t>	</a:t>
            </a:r>
            <a:r>
              <a:rPr lang="en-IN" sz="2400" dirty="0">
                <a:solidFill>
                  <a:schemeClr val="tx1">
                    <a:lumMod val="75000"/>
                    <a:lumOff val="25000"/>
                  </a:schemeClr>
                </a:solidFill>
                <a:latin typeface="Times New Roman" pitchFamily="18" charset="0"/>
                <a:cs typeface="Times New Roman" pitchFamily="18" charset="0"/>
              </a:rPr>
              <a:t>Which age cat did we sell more products to</a:t>
            </a:r>
            <a:r>
              <a:rPr lang="en-IN" dirty="0"/>
              <a:t>? </a:t>
            </a:r>
          </a:p>
          <a:p>
            <a:pPr lvl="0" algn="l"/>
            <a:endParaRPr lang="en-IN" dirty="0">
              <a:solidFill>
                <a:schemeClr val="tx1">
                  <a:lumMod val="75000"/>
                  <a:lumOff val="25000"/>
                </a:schemeClr>
              </a:solidFill>
              <a:latin typeface="Times New Roman" pitchFamily="18" charset="0"/>
              <a:cs typeface="Times New Roman" pitchFamily="18" charset="0"/>
            </a:endParaRPr>
          </a:p>
        </p:txBody>
      </p:sp>
      <p:pic>
        <p:nvPicPr>
          <p:cNvPr id="4" name="Picture 3" descr="pngegg (35).png"/>
          <p:cNvPicPr>
            <a:picLocks noChangeAspect="1"/>
          </p:cNvPicPr>
          <p:nvPr/>
        </p:nvPicPr>
        <p:blipFill>
          <a:blip r:embed="rId4" cstate="print"/>
          <a:stretch>
            <a:fillRect/>
          </a:stretch>
        </p:blipFill>
        <p:spPr>
          <a:xfrm>
            <a:off x="362741" y="419423"/>
            <a:ext cx="1040908" cy="983562"/>
          </a:xfrm>
          <a:prstGeom prst="rect">
            <a:avLst/>
          </a:prstGeom>
        </p:spPr>
      </p:pic>
      <p:pic>
        <p:nvPicPr>
          <p:cNvPr id="7" name="Picture 6" descr="6.png"/>
          <p:cNvPicPr>
            <a:picLocks noChangeAspect="1"/>
          </p:cNvPicPr>
          <p:nvPr/>
        </p:nvPicPr>
        <p:blipFill>
          <a:blip r:embed="rId5" cstate="print"/>
          <a:stretch>
            <a:fillRect/>
          </a:stretch>
        </p:blipFill>
        <p:spPr>
          <a:xfrm>
            <a:off x="647564" y="2736031"/>
            <a:ext cx="3060340" cy="1872208"/>
          </a:xfrm>
          <a:prstGeom prst="rect">
            <a:avLst/>
          </a:prstGeom>
        </p:spPr>
      </p:pic>
      <p:pic>
        <p:nvPicPr>
          <p:cNvPr id="8" name="Picture 7" descr="6p.png"/>
          <p:cNvPicPr>
            <a:picLocks noChangeAspect="1"/>
          </p:cNvPicPr>
          <p:nvPr/>
        </p:nvPicPr>
        <p:blipFill>
          <a:blip r:embed="rId6" cstate="print"/>
          <a:stretch>
            <a:fillRect/>
          </a:stretch>
        </p:blipFill>
        <p:spPr>
          <a:xfrm>
            <a:off x="5148064" y="2808039"/>
            <a:ext cx="3485079" cy="3384376"/>
          </a:xfrm>
          <a:prstGeom prst="rect">
            <a:avLst/>
          </a:prstGeom>
        </p:spPr>
      </p:pic>
      <p:sp>
        <p:nvSpPr>
          <p:cNvPr id="11" name="Rectangle 10"/>
          <p:cNvSpPr/>
          <p:nvPr/>
        </p:nvSpPr>
        <p:spPr>
          <a:xfrm>
            <a:off x="1115616" y="4899173"/>
            <a:ext cx="2952328" cy="1077218"/>
          </a:xfrm>
          <a:prstGeom prst="rect">
            <a:avLst/>
          </a:prstGeom>
        </p:spPr>
        <p:txBody>
          <a:bodyPr wrap="square">
            <a:spAutoFit/>
          </a:bodyPr>
          <a:lstStyle/>
          <a:p>
            <a:pPr algn="ctr"/>
            <a:r>
              <a:rPr lang="en-US" sz="1600" b="1" dirty="0" smtClean="0">
                <a:solidFill>
                  <a:srgbClr val="00B050"/>
                </a:solidFill>
                <a:latin typeface="Arial" pitchFamily="34" charset="0"/>
                <a:cs typeface="Arial" pitchFamily="34" charset="0"/>
              </a:rPr>
              <a:t>One age group category purchases the most items, highlighting strong buying intensity.</a:t>
            </a:r>
            <a:endParaRPr lang="en-US" sz="1600" b="1" dirty="0">
              <a:solidFill>
                <a:srgbClr val="00B050"/>
              </a:solidFill>
              <a:latin typeface="Arial" pitchFamily="34" charset="0"/>
              <a:cs typeface="Arial" pitchFamily="34" charset="0"/>
            </a:endParaRPr>
          </a:p>
        </p:txBody>
      </p:sp>
      <p:pic>
        <p:nvPicPr>
          <p:cNvPr id="12" name="Picture 11" descr="pngegg (47).png"/>
          <p:cNvPicPr>
            <a:picLocks noChangeAspect="1"/>
          </p:cNvPicPr>
          <p:nvPr/>
        </p:nvPicPr>
        <p:blipFill>
          <a:blip r:embed="rId7" cstate="print"/>
          <a:stretch>
            <a:fillRect/>
          </a:stretch>
        </p:blipFill>
        <p:spPr>
          <a:xfrm rot="4096798">
            <a:off x="3809468" y="3026563"/>
            <a:ext cx="1160726" cy="1160726"/>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EFD1"/>
            </a:gs>
            <a:gs pos="64999">
              <a:srgbClr val="F0EBD5"/>
            </a:gs>
            <a:gs pos="100000">
              <a:srgbClr val="D1C39F"/>
            </a:gs>
          </a:gsLst>
          <a:lin ang="5400000" scaled="0"/>
        </a:gradFill>
        <a:effectLst/>
      </p:bgPr>
    </p:bg>
    <p:spTree>
      <p:nvGrpSpPr>
        <p:cNvPr id="1" name=""/>
        <p:cNvGrpSpPr/>
        <p:nvPr/>
      </p:nvGrpSpPr>
      <p:grpSpPr>
        <a:xfrm>
          <a:off x="0" y="0"/>
          <a:ext cx="0" cy="0"/>
          <a:chOff x="0" y="0"/>
          <a:chExt cx="0" cy="0"/>
        </a:xfrm>
      </p:grpSpPr>
      <p:pic>
        <p:nvPicPr>
          <p:cNvPr id="12" name="Picture 11" descr="pngegg (49).png"/>
          <p:cNvPicPr>
            <a:picLocks noChangeAspect="1"/>
          </p:cNvPicPr>
          <p:nvPr/>
        </p:nvPicPr>
        <p:blipFill>
          <a:blip r:embed="rId3" cstate="print">
            <a:lum bright="40000"/>
          </a:blip>
          <a:stretch>
            <a:fillRect/>
          </a:stretch>
        </p:blipFill>
        <p:spPr>
          <a:xfrm>
            <a:off x="971600" y="4515700"/>
            <a:ext cx="4104456" cy="1892739"/>
          </a:xfrm>
          <a:prstGeom prst="rect">
            <a:avLst/>
          </a:prstGeom>
        </p:spPr>
      </p:pic>
      <p:sp>
        <p:nvSpPr>
          <p:cNvPr id="2" name="Title 1"/>
          <p:cNvSpPr>
            <a:spLocks noGrp="1"/>
          </p:cNvSpPr>
          <p:nvPr>
            <p:ph type="ctrTitle"/>
          </p:nvPr>
        </p:nvSpPr>
        <p:spPr>
          <a:xfrm>
            <a:off x="683568" y="178249"/>
            <a:ext cx="7772400" cy="1389038"/>
          </a:xfrm>
        </p:spPr>
        <p:txBody>
          <a:bodyPr/>
          <a:lstStyle/>
          <a:p>
            <a:r>
              <a:rPr lang="en-IN" b="1" dirty="0" smtClean="0">
                <a:latin typeface="Times New Roman" pitchFamily="18" charset="0"/>
                <a:cs typeface="Times New Roman" pitchFamily="18" charset="0"/>
              </a:rPr>
              <a:t>Customer Data Analysis </a:t>
            </a:r>
            <a:endParaRPr lang="en-US" b="1" dirty="0">
              <a:latin typeface="Times New Roman" pitchFamily="18" charset="0"/>
              <a:cs typeface="Times New Roman" pitchFamily="18" charset="0"/>
            </a:endParaRPr>
          </a:p>
        </p:txBody>
      </p:sp>
      <p:sp>
        <p:nvSpPr>
          <p:cNvPr id="3" name="Subtitle 2"/>
          <p:cNvSpPr>
            <a:spLocks noGrp="1"/>
          </p:cNvSpPr>
          <p:nvPr>
            <p:ph type="subTitle" idx="1"/>
          </p:nvPr>
        </p:nvSpPr>
        <p:spPr>
          <a:xfrm>
            <a:off x="179512" y="1439887"/>
            <a:ext cx="8424936" cy="1656045"/>
          </a:xfrm>
        </p:spPr>
        <p:txBody>
          <a:bodyPr/>
          <a:lstStyle/>
          <a:p>
            <a:pPr algn="l"/>
            <a:r>
              <a:rPr lang="en-IN" b="1" dirty="0" smtClean="0">
                <a:solidFill>
                  <a:srgbClr val="FF0000"/>
                </a:solidFill>
                <a:latin typeface="Arial" pitchFamily="34" charset="0"/>
                <a:cs typeface="Arial" pitchFamily="34" charset="0"/>
              </a:rPr>
              <a:t>Problem:</a:t>
            </a:r>
          </a:p>
          <a:p>
            <a:pPr algn="l"/>
            <a:r>
              <a:rPr lang="en-IN" dirty="0" smtClean="0">
                <a:solidFill>
                  <a:srgbClr val="FF0000"/>
                </a:solidFill>
                <a:latin typeface="Arial" pitchFamily="34" charset="0"/>
                <a:cs typeface="Arial" pitchFamily="34" charset="0"/>
              </a:rPr>
              <a:t>	</a:t>
            </a:r>
            <a:r>
              <a:rPr lang="en-IN" sz="2400" dirty="0">
                <a:solidFill>
                  <a:schemeClr val="tx1">
                    <a:lumMod val="75000"/>
                    <a:lumOff val="25000"/>
                  </a:schemeClr>
                </a:solidFill>
                <a:latin typeface="Times New Roman" pitchFamily="18" charset="0"/>
                <a:cs typeface="Times New Roman" pitchFamily="18" charset="0"/>
              </a:rPr>
              <a:t>Which age cat generated more revenue? </a:t>
            </a:r>
          </a:p>
          <a:p>
            <a:pPr lvl="0" algn="l"/>
            <a:endParaRPr lang="en-IN" dirty="0" smtClean="0">
              <a:solidFill>
                <a:schemeClr val="tx1">
                  <a:lumMod val="75000"/>
                  <a:lumOff val="25000"/>
                </a:schemeClr>
              </a:solidFill>
              <a:latin typeface="Times New Roman" pitchFamily="18" charset="0"/>
              <a:cs typeface="Times New Roman" pitchFamily="18" charset="0"/>
            </a:endParaRPr>
          </a:p>
          <a:p>
            <a:endParaRPr lang="en-US" dirty="0"/>
          </a:p>
        </p:txBody>
      </p:sp>
      <p:pic>
        <p:nvPicPr>
          <p:cNvPr id="4" name="Picture 3" descr="pngegg (35).png"/>
          <p:cNvPicPr>
            <a:picLocks noChangeAspect="1"/>
          </p:cNvPicPr>
          <p:nvPr/>
        </p:nvPicPr>
        <p:blipFill>
          <a:blip r:embed="rId4" cstate="print"/>
          <a:stretch>
            <a:fillRect/>
          </a:stretch>
        </p:blipFill>
        <p:spPr>
          <a:xfrm>
            <a:off x="362741" y="419423"/>
            <a:ext cx="1040908" cy="983562"/>
          </a:xfrm>
          <a:prstGeom prst="rect">
            <a:avLst/>
          </a:prstGeom>
        </p:spPr>
      </p:pic>
      <p:pic>
        <p:nvPicPr>
          <p:cNvPr id="6" name="Picture 5" descr="7.png"/>
          <p:cNvPicPr>
            <a:picLocks noChangeAspect="1"/>
          </p:cNvPicPr>
          <p:nvPr/>
        </p:nvPicPr>
        <p:blipFill>
          <a:blip r:embed="rId5" cstate="print"/>
          <a:stretch>
            <a:fillRect/>
          </a:stretch>
        </p:blipFill>
        <p:spPr>
          <a:xfrm>
            <a:off x="1043608" y="2664023"/>
            <a:ext cx="2880320" cy="1728192"/>
          </a:xfrm>
          <a:prstGeom prst="rect">
            <a:avLst/>
          </a:prstGeom>
        </p:spPr>
      </p:pic>
      <p:pic>
        <p:nvPicPr>
          <p:cNvPr id="7" name="Picture 6" descr="7p.png"/>
          <p:cNvPicPr>
            <a:picLocks noChangeAspect="1"/>
          </p:cNvPicPr>
          <p:nvPr/>
        </p:nvPicPr>
        <p:blipFill>
          <a:blip r:embed="rId6" cstate="print"/>
          <a:stretch>
            <a:fillRect/>
          </a:stretch>
        </p:blipFill>
        <p:spPr>
          <a:xfrm>
            <a:off x="5364088" y="2736031"/>
            <a:ext cx="3119496" cy="3528392"/>
          </a:xfrm>
          <a:prstGeom prst="rect">
            <a:avLst/>
          </a:prstGeom>
        </p:spPr>
      </p:pic>
      <p:sp>
        <p:nvSpPr>
          <p:cNvPr id="10" name="Rectangle 9"/>
          <p:cNvSpPr/>
          <p:nvPr/>
        </p:nvSpPr>
        <p:spPr>
          <a:xfrm>
            <a:off x="1475656" y="4824263"/>
            <a:ext cx="2736304" cy="1077218"/>
          </a:xfrm>
          <a:prstGeom prst="rect">
            <a:avLst/>
          </a:prstGeom>
        </p:spPr>
        <p:txBody>
          <a:bodyPr wrap="square">
            <a:spAutoFit/>
          </a:bodyPr>
          <a:lstStyle/>
          <a:p>
            <a:pPr algn="ctr"/>
            <a:r>
              <a:rPr lang="en-US" sz="1600" b="1" dirty="0" smtClean="0">
                <a:solidFill>
                  <a:srgbClr val="00B050"/>
                </a:solidFill>
                <a:latin typeface="Arial" pitchFamily="34" charset="0"/>
                <a:cs typeface="Arial" pitchFamily="34" charset="0"/>
              </a:rPr>
              <a:t>Revenue is largely driven by a core age group, making them the key sales segment.</a:t>
            </a:r>
            <a:endParaRPr lang="en-US" sz="1600" b="1" dirty="0">
              <a:solidFill>
                <a:srgbClr val="00B050"/>
              </a:solidFill>
              <a:latin typeface="Arial" pitchFamily="34" charset="0"/>
              <a:cs typeface="Arial" pitchFamily="34" charset="0"/>
            </a:endParaRPr>
          </a:p>
        </p:txBody>
      </p:sp>
      <p:pic>
        <p:nvPicPr>
          <p:cNvPr id="11" name="Picture 10" descr="pngegg (47).png"/>
          <p:cNvPicPr>
            <a:picLocks noChangeAspect="1"/>
          </p:cNvPicPr>
          <p:nvPr/>
        </p:nvPicPr>
        <p:blipFill>
          <a:blip r:embed="rId7" cstate="print"/>
          <a:stretch>
            <a:fillRect/>
          </a:stretch>
        </p:blipFill>
        <p:spPr>
          <a:xfrm rot="4096798">
            <a:off x="4070444" y="3026563"/>
            <a:ext cx="1160726" cy="1160726"/>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EFD1"/>
            </a:gs>
            <a:gs pos="64999">
              <a:srgbClr val="F0EBD5"/>
            </a:gs>
            <a:gs pos="100000">
              <a:srgbClr val="D1C39F"/>
            </a:gs>
          </a:gsLst>
          <a:lin ang="5400000" scaled="0"/>
        </a:gradFill>
        <a:effectLst/>
      </p:bgPr>
    </p:bg>
    <p:spTree>
      <p:nvGrpSpPr>
        <p:cNvPr id="1" name=""/>
        <p:cNvGrpSpPr/>
        <p:nvPr/>
      </p:nvGrpSpPr>
      <p:grpSpPr>
        <a:xfrm>
          <a:off x="0" y="0"/>
          <a:ext cx="0" cy="0"/>
          <a:chOff x="0" y="0"/>
          <a:chExt cx="0" cy="0"/>
        </a:xfrm>
      </p:grpSpPr>
      <p:pic>
        <p:nvPicPr>
          <p:cNvPr id="12" name="Picture 11" descr="pngegg (49).png"/>
          <p:cNvPicPr>
            <a:picLocks noChangeAspect="1"/>
          </p:cNvPicPr>
          <p:nvPr/>
        </p:nvPicPr>
        <p:blipFill>
          <a:blip r:embed="rId3" cstate="print">
            <a:lum bright="40000"/>
          </a:blip>
          <a:stretch>
            <a:fillRect/>
          </a:stretch>
        </p:blipFill>
        <p:spPr>
          <a:xfrm>
            <a:off x="4788024" y="2520007"/>
            <a:ext cx="4355976" cy="2375992"/>
          </a:xfrm>
          <a:prstGeom prst="rect">
            <a:avLst/>
          </a:prstGeom>
        </p:spPr>
      </p:pic>
      <p:sp>
        <p:nvSpPr>
          <p:cNvPr id="2" name="Title 1"/>
          <p:cNvSpPr>
            <a:spLocks noGrp="1"/>
          </p:cNvSpPr>
          <p:nvPr>
            <p:ph type="ctrTitle"/>
          </p:nvPr>
        </p:nvSpPr>
        <p:spPr>
          <a:xfrm>
            <a:off x="683568" y="178249"/>
            <a:ext cx="7772400" cy="1389038"/>
          </a:xfrm>
        </p:spPr>
        <p:txBody>
          <a:bodyPr/>
          <a:lstStyle/>
          <a:p>
            <a:r>
              <a:rPr lang="en-IN" b="1" dirty="0" smtClean="0">
                <a:latin typeface="Times New Roman" pitchFamily="18" charset="0"/>
                <a:cs typeface="Times New Roman" pitchFamily="18" charset="0"/>
              </a:rPr>
              <a:t>Customer Data Analysis </a:t>
            </a:r>
            <a:endParaRPr lang="en-US" b="1" dirty="0">
              <a:latin typeface="Times New Roman" pitchFamily="18" charset="0"/>
              <a:cs typeface="Times New Roman" pitchFamily="18" charset="0"/>
            </a:endParaRPr>
          </a:p>
        </p:txBody>
      </p:sp>
      <p:sp>
        <p:nvSpPr>
          <p:cNvPr id="3" name="Subtitle 2"/>
          <p:cNvSpPr>
            <a:spLocks noGrp="1"/>
          </p:cNvSpPr>
          <p:nvPr>
            <p:ph type="subTitle" idx="1"/>
          </p:nvPr>
        </p:nvSpPr>
        <p:spPr>
          <a:xfrm>
            <a:off x="179512" y="1439887"/>
            <a:ext cx="8496944" cy="1656045"/>
          </a:xfrm>
        </p:spPr>
        <p:txBody>
          <a:bodyPr/>
          <a:lstStyle/>
          <a:p>
            <a:pPr algn="l"/>
            <a:r>
              <a:rPr lang="en-IN" b="1" dirty="0" smtClean="0">
                <a:solidFill>
                  <a:srgbClr val="FF0000"/>
                </a:solidFill>
                <a:latin typeface="Arial" pitchFamily="34" charset="0"/>
                <a:cs typeface="Arial" pitchFamily="34" charset="0"/>
              </a:rPr>
              <a:t>Problem:</a:t>
            </a:r>
          </a:p>
          <a:p>
            <a:pPr lvl="0" algn="l"/>
            <a:r>
              <a:rPr lang="en-IN" dirty="0" smtClean="0">
                <a:solidFill>
                  <a:srgbClr val="FF0000"/>
                </a:solidFill>
                <a:latin typeface="Arial" pitchFamily="34" charset="0"/>
                <a:cs typeface="Arial" pitchFamily="34" charset="0"/>
              </a:rPr>
              <a:t>	</a:t>
            </a:r>
            <a:r>
              <a:rPr lang="en-IN" sz="2400" dirty="0">
                <a:solidFill>
                  <a:schemeClr val="tx1">
                    <a:lumMod val="75000"/>
                    <a:lumOff val="25000"/>
                  </a:schemeClr>
                </a:solidFill>
                <a:latin typeface="Times New Roman" pitchFamily="18" charset="0"/>
                <a:cs typeface="Times New Roman" pitchFamily="18" charset="0"/>
              </a:rPr>
              <a:t>Distribution of purchase categories relative to other </a:t>
            </a:r>
            <a:r>
              <a:rPr lang="en-IN" sz="2400" dirty="0" smtClean="0">
                <a:solidFill>
                  <a:schemeClr val="tx1">
                    <a:lumMod val="75000"/>
                    <a:lumOff val="25000"/>
                  </a:schemeClr>
                </a:solidFill>
                <a:latin typeface="Times New Roman" pitchFamily="18" charset="0"/>
                <a:cs typeface="Times New Roman" pitchFamily="18" charset="0"/>
              </a:rPr>
              <a:t> 	columns</a:t>
            </a:r>
            <a:r>
              <a:rPr lang="en-IN" sz="2400" dirty="0">
                <a:solidFill>
                  <a:schemeClr val="tx1">
                    <a:lumMod val="75000"/>
                    <a:lumOff val="25000"/>
                  </a:schemeClr>
                </a:solidFill>
                <a:latin typeface="Times New Roman" pitchFamily="18" charset="0"/>
                <a:cs typeface="Times New Roman" pitchFamily="18" charset="0"/>
              </a:rPr>
              <a:t>? </a:t>
            </a:r>
            <a:endParaRPr lang="en-IN" sz="2400" dirty="0" smtClean="0">
              <a:solidFill>
                <a:schemeClr val="tx1">
                  <a:lumMod val="75000"/>
                  <a:lumOff val="25000"/>
                </a:schemeClr>
              </a:solidFill>
              <a:latin typeface="Times New Roman" pitchFamily="18" charset="0"/>
              <a:cs typeface="Times New Roman" pitchFamily="18" charset="0"/>
            </a:endParaRPr>
          </a:p>
          <a:p>
            <a:endParaRPr lang="en-US" dirty="0"/>
          </a:p>
        </p:txBody>
      </p:sp>
      <p:pic>
        <p:nvPicPr>
          <p:cNvPr id="4" name="Picture 3" descr="pngegg (35).png"/>
          <p:cNvPicPr>
            <a:picLocks noChangeAspect="1"/>
          </p:cNvPicPr>
          <p:nvPr/>
        </p:nvPicPr>
        <p:blipFill>
          <a:blip r:embed="rId4" cstate="print"/>
          <a:stretch>
            <a:fillRect/>
          </a:stretch>
        </p:blipFill>
        <p:spPr>
          <a:xfrm>
            <a:off x="362741" y="419423"/>
            <a:ext cx="1040908" cy="983562"/>
          </a:xfrm>
          <a:prstGeom prst="rect">
            <a:avLst/>
          </a:prstGeom>
        </p:spPr>
      </p:pic>
      <p:pic>
        <p:nvPicPr>
          <p:cNvPr id="5" name="Picture 4" descr="8.png"/>
          <p:cNvPicPr>
            <a:picLocks noChangeAspect="1"/>
          </p:cNvPicPr>
          <p:nvPr/>
        </p:nvPicPr>
        <p:blipFill>
          <a:blip r:embed="rId5" cstate="print"/>
          <a:stretch>
            <a:fillRect/>
          </a:stretch>
        </p:blipFill>
        <p:spPr>
          <a:xfrm>
            <a:off x="107504" y="3024063"/>
            <a:ext cx="3977985" cy="1512167"/>
          </a:xfrm>
          <a:prstGeom prst="rect">
            <a:avLst/>
          </a:prstGeom>
        </p:spPr>
      </p:pic>
      <p:pic>
        <p:nvPicPr>
          <p:cNvPr id="6" name="Picture 5" descr="8p.png"/>
          <p:cNvPicPr>
            <a:picLocks noChangeAspect="1"/>
          </p:cNvPicPr>
          <p:nvPr/>
        </p:nvPicPr>
        <p:blipFill>
          <a:blip r:embed="rId6" cstate="print"/>
          <a:stretch>
            <a:fillRect/>
          </a:stretch>
        </p:blipFill>
        <p:spPr>
          <a:xfrm>
            <a:off x="3347864" y="4752255"/>
            <a:ext cx="5669772" cy="1600339"/>
          </a:xfrm>
          <a:prstGeom prst="rect">
            <a:avLst/>
          </a:prstGeom>
        </p:spPr>
      </p:pic>
      <p:sp>
        <p:nvSpPr>
          <p:cNvPr id="10" name="Rectangle 9"/>
          <p:cNvSpPr/>
          <p:nvPr/>
        </p:nvSpPr>
        <p:spPr>
          <a:xfrm>
            <a:off x="5220072" y="2852752"/>
            <a:ext cx="2880320" cy="1323439"/>
          </a:xfrm>
          <a:prstGeom prst="rect">
            <a:avLst/>
          </a:prstGeom>
        </p:spPr>
        <p:txBody>
          <a:bodyPr wrap="square">
            <a:spAutoFit/>
          </a:bodyPr>
          <a:lstStyle/>
          <a:p>
            <a:pPr algn="ctr"/>
            <a:r>
              <a:rPr lang="en-US" sz="1600" b="1" dirty="0" smtClean="0">
                <a:solidFill>
                  <a:srgbClr val="00B050"/>
                </a:solidFill>
                <a:latin typeface="Arial" pitchFamily="34" charset="0"/>
                <a:cs typeface="Arial" pitchFamily="34" charset="0"/>
              </a:rPr>
              <a:t>Product category preferences vary across age and transactions, enabling targeted product positioning.</a:t>
            </a:r>
            <a:endParaRPr lang="en-US" sz="1600" b="1" dirty="0">
              <a:solidFill>
                <a:srgbClr val="00B050"/>
              </a:solidFill>
              <a:latin typeface="Arial" pitchFamily="34" charset="0"/>
              <a:cs typeface="Arial" pitchFamily="34" charset="0"/>
            </a:endParaRPr>
          </a:p>
        </p:txBody>
      </p:sp>
      <p:pic>
        <p:nvPicPr>
          <p:cNvPr id="11" name="Picture 10" descr="pngegg (47).png"/>
          <p:cNvPicPr>
            <a:picLocks noChangeAspect="1"/>
          </p:cNvPicPr>
          <p:nvPr/>
        </p:nvPicPr>
        <p:blipFill>
          <a:blip r:embed="rId7" cstate="print"/>
          <a:stretch>
            <a:fillRect/>
          </a:stretch>
        </p:blipFill>
        <p:spPr>
          <a:xfrm rot="5400000">
            <a:off x="4139952" y="3816151"/>
            <a:ext cx="864096" cy="864096"/>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EFD1"/>
            </a:gs>
            <a:gs pos="64999">
              <a:srgbClr val="F0EBD5"/>
            </a:gs>
            <a:gs pos="100000">
              <a:srgbClr val="D1C39F"/>
            </a:gs>
          </a:gsLst>
          <a:lin ang="5400000" scaled="0"/>
        </a:gradFill>
        <a:effectLst/>
      </p:bgPr>
    </p:bg>
    <p:spTree>
      <p:nvGrpSpPr>
        <p:cNvPr id="1" name=""/>
        <p:cNvGrpSpPr/>
        <p:nvPr/>
      </p:nvGrpSpPr>
      <p:grpSpPr>
        <a:xfrm>
          <a:off x="0" y="0"/>
          <a:ext cx="0" cy="0"/>
          <a:chOff x="0" y="0"/>
          <a:chExt cx="0" cy="0"/>
        </a:xfrm>
      </p:grpSpPr>
      <p:pic>
        <p:nvPicPr>
          <p:cNvPr id="11" name="Picture 10" descr="pngegg (49).png"/>
          <p:cNvPicPr>
            <a:picLocks noChangeAspect="1"/>
          </p:cNvPicPr>
          <p:nvPr/>
        </p:nvPicPr>
        <p:blipFill>
          <a:blip r:embed="rId3" cstate="print">
            <a:lum bright="40000"/>
          </a:blip>
          <a:stretch>
            <a:fillRect/>
          </a:stretch>
        </p:blipFill>
        <p:spPr>
          <a:xfrm>
            <a:off x="899592" y="4651182"/>
            <a:ext cx="4392488" cy="1973281"/>
          </a:xfrm>
          <a:prstGeom prst="rect">
            <a:avLst/>
          </a:prstGeom>
        </p:spPr>
      </p:pic>
      <p:sp>
        <p:nvSpPr>
          <p:cNvPr id="2" name="Title 1"/>
          <p:cNvSpPr>
            <a:spLocks noGrp="1"/>
          </p:cNvSpPr>
          <p:nvPr>
            <p:ph type="ctrTitle"/>
          </p:nvPr>
        </p:nvSpPr>
        <p:spPr>
          <a:xfrm>
            <a:off x="683568" y="178249"/>
            <a:ext cx="7772400" cy="1389038"/>
          </a:xfrm>
        </p:spPr>
        <p:txBody>
          <a:bodyPr/>
          <a:lstStyle/>
          <a:p>
            <a:r>
              <a:rPr lang="en-IN" b="1" dirty="0" smtClean="0">
                <a:latin typeface="Times New Roman" pitchFamily="18" charset="0"/>
                <a:cs typeface="Times New Roman" pitchFamily="18" charset="0"/>
              </a:rPr>
              <a:t>Customer Data Analysis </a:t>
            </a:r>
            <a:endParaRPr lang="en-US" b="1" dirty="0">
              <a:latin typeface="Times New Roman" pitchFamily="18" charset="0"/>
              <a:cs typeface="Times New Roman" pitchFamily="18" charset="0"/>
            </a:endParaRPr>
          </a:p>
        </p:txBody>
      </p:sp>
      <p:sp>
        <p:nvSpPr>
          <p:cNvPr id="3" name="Subtitle 2"/>
          <p:cNvSpPr>
            <a:spLocks noGrp="1"/>
          </p:cNvSpPr>
          <p:nvPr>
            <p:ph type="subTitle" idx="1"/>
          </p:nvPr>
        </p:nvSpPr>
        <p:spPr>
          <a:xfrm>
            <a:off x="179512" y="1439887"/>
            <a:ext cx="8496944" cy="1656045"/>
          </a:xfrm>
        </p:spPr>
        <p:txBody>
          <a:bodyPr/>
          <a:lstStyle/>
          <a:p>
            <a:pPr algn="l"/>
            <a:r>
              <a:rPr lang="en-IN" b="1" dirty="0" smtClean="0">
                <a:solidFill>
                  <a:srgbClr val="FF0000"/>
                </a:solidFill>
                <a:latin typeface="Arial" pitchFamily="34" charset="0"/>
                <a:cs typeface="Arial" pitchFamily="34" charset="0"/>
              </a:rPr>
              <a:t>Problem:</a:t>
            </a:r>
          </a:p>
          <a:p>
            <a:pPr algn="l"/>
            <a:r>
              <a:rPr lang="en-IN" dirty="0" smtClean="0">
                <a:solidFill>
                  <a:srgbClr val="FF0000"/>
                </a:solidFill>
                <a:latin typeface="Arial" pitchFamily="34" charset="0"/>
                <a:cs typeface="Arial" pitchFamily="34" charset="0"/>
              </a:rPr>
              <a:t>	</a:t>
            </a:r>
            <a:r>
              <a:rPr lang="en-IN" sz="2400" dirty="0">
                <a:solidFill>
                  <a:schemeClr val="tx1">
                    <a:lumMod val="75000"/>
                    <a:lumOff val="25000"/>
                  </a:schemeClr>
                </a:solidFill>
                <a:latin typeface="Times New Roman" pitchFamily="18" charset="0"/>
                <a:cs typeface="Times New Roman" pitchFamily="18" charset="0"/>
              </a:rPr>
              <a:t>Does the payment method have a relation with other </a:t>
            </a:r>
            <a:r>
              <a:rPr lang="en-IN" sz="2400" dirty="0" smtClean="0">
                <a:solidFill>
                  <a:schemeClr val="tx1">
                    <a:lumMod val="75000"/>
                    <a:lumOff val="25000"/>
                  </a:schemeClr>
                </a:solidFill>
                <a:latin typeface="Times New Roman" pitchFamily="18" charset="0"/>
                <a:cs typeface="Times New Roman" pitchFamily="18" charset="0"/>
              </a:rPr>
              <a:t>	columns</a:t>
            </a:r>
            <a:r>
              <a:rPr lang="en-IN" sz="2400" dirty="0">
                <a:solidFill>
                  <a:schemeClr val="tx1">
                    <a:lumMod val="75000"/>
                    <a:lumOff val="25000"/>
                  </a:schemeClr>
                </a:solidFill>
                <a:latin typeface="Times New Roman" pitchFamily="18" charset="0"/>
                <a:cs typeface="Times New Roman" pitchFamily="18" charset="0"/>
              </a:rPr>
              <a:t>? </a:t>
            </a:r>
          </a:p>
          <a:p>
            <a:pPr lvl="0" algn="l"/>
            <a:endParaRPr lang="en-IN" dirty="0" smtClean="0">
              <a:solidFill>
                <a:schemeClr val="tx1">
                  <a:lumMod val="75000"/>
                  <a:lumOff val="25000"/>
                </a:schemeClr>
              </a:solidFill>
              <a:latin typeface="Times New Roman" pitchFamily="18" charset="0"/>
              <a:cs typeface="Times New Roman" pitchFamily="18" charset="0"/>
            </a:endParaRPr>
          </a:p>
          <a:p>
            <a:endParaRPr lang="en-US" dirty="0"/>
          </a:p>
        </p:txBody>
      </p:sp>
      <p:pic>
        <p:nvPicPr>
          <p:cNvPr id="4" name="Picture 3" descr="pngegg (35).png"/>
          <p:cNvPicPr>
            <a:picLocks noChangeAspect="1"/>
          </p:cNvPicPr>
          <p:nvPr/>
        </p:nvPicPr>
        <p:blipFill>
          <a:blip r:embed="rId4" cstate="print"/>
          <a:stretch>
            <a:fillRect/>
          </a:stretch>
        </p:blipFill>
        <p:spPr>
          <a:xfrm>
            <a:off x="362741" y="419423"/>
            <a:ext cx="1040908" cy="983562"/>
          </a:xfrm>
          <a:prstGeom prst="rect">
            <a:avLst/>
          </a:prstGeom>
        </p:spPr>
      </p:pic>
      <p:pic>
        <p:nvPicPr>
          <p:cNvPr id="5" name="Picture 4" descr="9.png"/>
          <p:cNvPicPr>
            <a:picLocks noChangeAspect="1"/>
          </p:cNvPicPr>
          <p:nvPr/>
        </p:nvPicPr>
        <p:blipFill>
          <a:blip r:embed="rId5" cstate="print"/>
          <a:stretch>
            <a:fillRect/>
          </a:stretch>
        </p:blipFill>
        <p:spPr>
          <a:xfrm>
            <a:off x="539552" y="3024063"/>
            <a:ext cx="3312368" cy="1512168"/>
          </a:xfrm>
          <a:prstGeom prst="rect">
            <a:avLst/>
          </a:prstGeom>
        </p:spPr>
      </p:pic>
      <p:pic>
        <p:nvPicPr>
          <p:cNvPr id="6" name="Picture 5" descr="9p.png"/>
          <p:cNvPicPr>
            <a:picLocks noChangeAspect="1"/>
          </p:cNvPicPr>
          <p:nvPr/>
        </p:nvPicPr>
        <p:blipFill>
          <a:blip r:embed="rId6" cstate="print"/>
          <a:stretch>
            <a:fillRect/>
          </a:stretch>
        </p:blipFill>
        <p:spPr>
          <a:xfrm>
            <a:off x="5364088" y="3024063"/>
            <a:ext cx="3519422" cy="3240360"/>
          </a:xfrm>
          <a:prstGeom prst="rect">
            <a:avLst/>
          </a:prstGeom>
        </p:spPr>
      </p:pic>
      <p:sp>
        <p:nvSpPr>
          <p:cNvPr id="9" name="Rectangle 8"/>
          <p:cNvSpPr/>
          <p:nvPr/>
        </p:nvSpPr>
        <p:spPr>
          <a:xfrm>
            <a:off x="1331640" y="4968279"/>
            <a:ext cx="2952328" cy="1077218"/>
          </a:xfrm>
          <a:prstGeom prst="rect">
            <a:avLst/>
          </a:prstGeom>
        </p:spPr>
        <p:txBody>
          <a:bodyPr wrap="square">
            <a:spAutoFit/>
          </a:bodyPr>
          <a:lstStyle/>
          <a:p>
            <a:pPr algn="ctr"/>
            <a:r>
              <a:rPr lang="en-US" sz="1600" b="1" dirty="0" smtClean="0">
                <a:solidFill>
                  <a:srgbClr val="00B050"/>
                </a:solidFill>
                <a:latin typeface="Arial" pitchFamily="34" charset="0"/>
                <a:cs typeface="Arial" pitchFamily="34" charset="0"/>
              </a:rPr>
              <a:t>Payment choices differ by age, gender, and category, reflecting diverse customer preferences.</a:t>
            </a:r>
            <a:endParaRPr lang="en-US" sz="1600" b="1" dirty="0">
              <a:solidFill>
                <a:srgbClr val="00B050"/>
              </a:solidFill>
              <a:latin typeface="Arial" pitchFamily="34" charset="0"/>
              <a:cs typeface="Arial" pitchFamily="34" charset="0"/>
            </a:endParaRPr>
          </a:p>
        </p:txBody>
      </p:sp>
      <p:pic>
        <p:nvPicPr>
          <p:cNvPr id="10" name="Picture 9" descr="pngegg (47).png"/>
          <p:cNvPicPr>
            <a:picLocks noChangeAspect="1"/>
          </p:cNvPicPr>
          <p:nvPr/>
        </p:nvPicPr>
        <p:blipFill>
          <a:blip r:embed="rId7" cstate="print"/>
          <a:stretch>
            <a:fillRect/>
          </a:stretch>
        </p:blipFill>
        <p:spPr>
          <a:xfrm rot="4096798">
            <a:off x="4025492" y="3269643"/>
            <a:ext cx="1160726" cy="1160726"/>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EFD1"/>
            </a:gs>
            <a:gs pos="64999">
              <a:srgbClr val="F0EBD5"/>
            </a:gs>
            <a:gs pos="100000">
              <a:srgbClr val="D1C39F"/>
            </a:gs>
          </a:gsLst>
          <a:lin ang="5400000" scaled="0"/>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3568" y="178249"/>
            <a:ext cx="7772400" cy="1389038"/>
          </a:xfrm>
        </p:spPr>
        <p:txBody>
          <a:bodyPr/>
          <a:lstStyle/>
          <a:p>
            <a:r>
              <a:rPr lang="en-IN" b="1" dirty="0" smtClean="0">
                <a:latin typeface="Times New Roman" pitchFamily="18" charset="0"/>
                <a:cs typeface="Times New Roman" pitchFamily="18" charset="0"/>
              </a:rPr>
              <a:t>Customer Data Analysis </a:t>
            </a:r>
            <a:endParaRPr lang="en-US" b="1" dirty="0">
              <a:latin typeface="Times New Roman" pitchFamily="18" charset="0"/>
              <a:cs typeface="Times New Roman" pitchFamily="18" charset="0"/>
            </a:endParaRPr>
          </a:p>
        </p:txBody>
      </p:sp>
      <p:sp>
        <p:nvSpPr>
          <p:cNvPr id="3" name="Subtitle 2"/>
          <p:cNvSpPr>
            <a:spLocks noGrp="1"/>
          </p:cNvSpPr>
          <p:nvPr>
            <p:ph type="subTitle" idx="1"/>
          </p:nvPr>
        </p:nvSpPr>
        <p:spPr>
          <a:xfrm>
            <a:off x="179512" y="1439887"/>
            <a:ext cx="8424936" cy="1656045"/>
          </a:xfrm>
        </p:spPr>
        <p:txBody>
          <a:bodyPr/>
          <a:lstStyle/>
          <a:p>
            <a:pPr algn="l"/>
            <a:r>
              <a:rPr lang="en-IN" b="1" dirty="0" smtClean="0">
                <a:solidFill>
                  <a:srgbClr val="FF0000"/>
                </a:solidFill>
                <a:latin typeface="Arial" pitchFamily="34" charset="0"/>
                <a:cs typeface="Arial" pitchFamily="34" charset="0"/>
              </a:rPr>
              <a:t>Problem:</a:t>
            </a:r>
          </a:p>
          <a:p>
            <a:pPr algn="l"/>
            <a:r>
              <a:rPr lang="en-IN" dirty="0" smtClean="0">
                <a:solidFill>
                  <a:srgbClr val="FF0000"/>
                </a:solidFill>
                <a:latin typeface="Arial" pitchFamily="34" charset="0"/>
                <a:cs typeface="Arial" pitchFamily="34" charset="0"/>
              </a:rPr>
              <a:t>	</a:t>
            </a:r>
            <a:r>
              <a:rPr lang="en-IN" sz="2400" dirty="0">
                <a:solidFill>
                  <a:schemeClr val="tx1">
                    <a:lumMod val="75000"/>
                    <a:lumOff val="25000"/>
                  </a:schemeClr>
                </a:solidFill>
                <a:latin typeface="Times New Roman" pitchFamily="18" charset="0"/>
                <a:cs typeface="Times New Roman" pitchFamily="18" charset="0"/>
              </a:rPr>
              <a:t>How is the distribution of the payment method? </a:t>
            </a:r>
          </a:p>
          <a:p>
            <a:pPr lvl="0" algn="l"/>
            <a:endParaRPr lang="en-IN" dirty="0" smtClean="0">
              <a:solidFill>
                <a:schemeClr val="tx1">
                  <a:lumMod val="75000"/>
                  <a:lumOff val="25000"/>
                </a:schemeClr>
              </a:solidFill>
              <a:latin typeface="Times New Roman" pitchFamily="18" charset="0"/>
              <a:cs typeface="Times New Roman" pitchFamily="18" charset="0"/>
            </a:endParaRPr>
          </a:p>
          <a:p>
            <a:endParaRPr lang="en-US" dirty="0"/>
          </a:p>
        </p:txBody>
      </p:sp>
      <p:pic>
        <p:nvPicPr>
          <p:cNvPr id="4" name="Picture 3" descr="pngegg (35).png"/>
          <p:cNvPicPr>
            <a:picLocks noChangeAspect="1"/>
          </p:cNvPicPr>
          <p:nvPr/>
        </p:nvPicPr>
        <p:blipFill>
          <a:blip r:embed="rId3" cstate="print"/>
          <a:stretch>
            <a:fillRect/>
          </a:stretch>
        </p:blipFill>
        <p:spPr>
          <a:xfrm>
            <a:off x="362741" y="419423"/>
            <a:ext cx="1040908" cy="983562"/>
          </a:xfrm>
          <a:prstGeom prst="rect">
            <a:avLst/>
          </a:prstGeom>
        </p:spPr>
      </p:pic>
      <p:pic>
        <p:nvPicPr>
          <p:cNvPr id="5" name="Picture 4" descr="10.png"/>
          <p:cNvPicPr>
            <a:picLocks noChangeAspect="1"/>
          </p:cNvPicPr>
          <p:nvPr/>
        </p:nvPicPr>
        <p:blipFill>
          <a:blip r:embed="rId4" cstate="print"/>
          <a:stretch>
            <a:fillRect/>
          </a:stretch>
        </p:blipFill>
        <p:spPr>
          <a:xfrm>
            <a:off x="467544" y="2808039"/>
            <a:ext cx="3410754" cy="1224136"/>
          </a:xfrm>
          <a:prstGeom prst="rect">
            <a:avLst/>
          </a:prstGeom>
        </p:spPr>
      </p:pic>
      <p:pic>
        <p:nvPicPr>
          <p:cNvPr id="6" name="Picture 5" descr="10p.png"/>
          <p:cNvPicPr>
            <a:picLocks noChangeAspect="1"/>
          </p:cNvPicPr>
          <p:nvPr/>
        </p:nvPicPr>
        <p:blipFill>
          <a:blip r:embed="rId5" cstate="print"/>
          <a:stretch>
            <a:fillRect/>
          </a:stretch>
        </p:blipFill>
        <p:spPr>
          <a:xfrm>
            <a:off x="5364088" y="3384103"/>
            <a:ext cx="3456384" cy="2808312"/>
          </a:xfrm>
          <a:prstGeom prst="rect">
            <a:avLst/>
          </a:prstGeom>
        </p:spPr>
      </p:pic>
      <p:pic>
        <p:nvPicPr>
          <p:cNvPr id="12" name="Picture 11" descr="pngegg (49).png"/>
          <p:cNvPicPr>
            <a:picLocks noChangeAspect="1"/>
          </p:cNvPicPr>
          <p:nvPr/>
        </p:nvPicPr>
        <p:blipFill>
          <a:blip r:embed="rId6" cstate="print">
            <a:lum bright="40000"/>
          </a:blip>
          <a:stretch>
            <a:fillRect/>
          </a:stretch>
        </p:blipFill>
        <p:spPr>
          <a:xfrm>
            <a:off x="755576" y="4104183"/>
            <a:ext cx="4248472" cy="2375992"/>
          </a:xfrm>
          <a:prstGeom prst="rect">
            <a:avLst/>
          </a:prstGeom>
        </p:spPr>
      </p:pic>
      <p:sp>
        <p:nvSpPr>
          <p:cNvPr id="9" name="Rectangle 8"/>
          <p:cNvSpPr/>
          <p:nvPr/>
        </p:nvSpPr>
        <p:spPr>
          <a:xfrm>
            <a:off x="1259632" y="4464223"/>
            <a:ext cx="2592288" cy="1323439"/>
          </a:xfrm>
          <a:prstGeom prst="rect">
            <a:avLst/>
          </a:prstGeom>
        </p:spPr>
        <p:txBody>
          <a:bodyPr wrap="square">
            <a:spAutoFit/>
          </a:bodyPr>
          <a:lstStyle/>
          <a:p>
            <a:pPr algn="ctr"/>
            <a:r>
              <a:rPr lang="en-US" sz="1600" b="1" dirty="0" smtClean="0">
                <a:solidFill>
                  <a:srgbClr val="00B050"/>
                </a:solidFill>
                <a:latin typeface="Arial" pitchFamily="34" charset="0"/>
                <a:cs typeface="Arial" pitchFamily="34" charset="0"/>
              </a:rPr>
              <a:t>A cash payment method dominate transactions, confirming strong customer preference trends.</a:t>
            </a:r>
            <a:endParaRPr lang="en-US" sz="1600" b="1" dirty="0">
              <a:solidFill>
                <a:srgbClr val="00B050"/>
              </a:solidFill>
              <a:latin typeface="Arial" pitchFamily="34" charset="0"/>
              <a:cs typeface="Arial" pitchFamily="34" charset="0"/>
            </a:endParaRPr>
          </a:p>
        </p:txBody>
      </p:sp>
      <p:pic>
        <p:nvPicPr>
          <p:cNvPr id="10" name="Picture 9" descr="pngegg (47).png"/>
          <p:cNvPicPr>
            <a:picLocks noChangeAspect="1"/>
          </p:cNvPicPr>
          <p:nvPr/>
        </p:nvPicPr>
        <p:blipFill>
          <a:blip r:embed="rId7" cstate="print"/>
          <a:stretch>
            <a:fillRect/>
          </a:stretch>
        </p:blipFill>
        <p:spPr>
          <a:xfrm rot="4096798">
            <a:off x="4058144" y="3295824"/>
            <a:ext cx="1012668" cy="1012668"/>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EFD1"/>
            </a:gs>
            <a:gs pos="64999">
              <a:srgbClr val="F0EBD5"/>
            </a:gs>
            <a:gs pos="100000">
              <a:srgbClr val="D1C39F"/>
            </a:gs>
          </a:gsLst>
          <a:lin ang="5400000" scaled="0"/>
        </a:gradFill>
        <a:effectLst/>
      </p:bgPr>
    </p:bg>
    <p:spTree>
      <p:nvGrpSpPr>
        <p:cNvPr id="1" name=""/>
        <p:cNvGrpSpPr/>
        <p:nvPr/>
      </p:nvGrpSpPr>
      <p:grpSpPr>
        <a:xfrm>
          <a:off x="0" y="0"/>
          <a:ext cx="0" cy="0"/>
          <a:chOff x="0" y="0"/>
          <a:chExt cx="0" cy="0"/>
        </a:xfrm>
      </p:grpSpPr>
      <p:pic>
        <p:nvPicPr>
          <p:cNvPr id="8" name="Picture 7" descr="pngegg (31).png"/>
          <p:cNvPicPr>
            <a:picLocks noChangeAspect="1"/>
          </p:cNvPicPr>
          <p:nvPr/>
        </p:nvPicPr>
        <p:blipFill>
          <a:blip r:embed="rId3" cstate="print">
            <a:lum bright="30000"/>
          </a:blip>
          <a:stretch>
            <a:fillRect/>
          </a:stretch>
        </p:blipFill>
        <p:spPr>
          <a:xfrm>
            <a:off x="3059832" y="575791"/>
            <a:ext cx="6096000" cy="6096000"/>
          </a:xfrm>
          <a:prstGeom prst="rect">
            <a:avLst/>
          </a:prstGeom>
        </p:spPr>
      </p:pic>
      <p:sp>
        <p:nvSpPr>
          <p:cNvPr id="2" name="Title 1"/>
          <p:cNvSpPr>
            <a:spLocks noGrp="1"/>
          </p:cNvSpPr>
          <p:nvPr>
            <p:ph type="ctrTitle"/>
          </p:nvPr>
        </p:nvSpPr>
        <p:spPr>
          <a:xfrm>
            <a:off x="683568" y="178249"/>
            <a:ext cx="7772400" cy="1389038"/>
          </a:xfrm>
        </p:spPr>
        <p:txBody>
          <a:bodyPr/>
          <a:lstStyle/>
          <a:p>
            <a:r>
              <a:rPr lang="en-IN" b="1" dirty="0" smtClean="0">
                <a:latin typeface="Times New Roman" pitchFamily="18" charset="0"/>
                <a:cs typeface="Times New Roman" pitchFamily="18" charset="0"/>
              </a:rPr>
              <a:t>Customer Data Analysis </a:t>
            </a:r>
            <a:endParaRPr lang="en-US" b="1" dirty="0">
              <a:latin typeface="Times New Roman" pitchFamily="18" charset="0"/>
              <a:cs typeface="Times New Roman" pitchFamily="18" charset="0"/>
            </a:endParaRPr>
          </a:p>
        </p:txBody>
      </p:sp>
      <p:sp>
        <p:nvSpPr>
          <p:cNvPr id="3" name="Subtitle 2"/>
          <p:cNvSpPr>
            <a:spLocks noGrp="1"/>
          </p:cNvSpPr>
          <p:nvPr>
            <p:ph type="subTitle" idx="1"/>
          </p:nvPr>
        </p:nvSpPr>
        <p:spPr>
          <a:xfrm>
            <a:off x="251520" y="1367879"/>
            <a:ext cx="8748464" cy="1728191"/>
          </a:xfrm>
        </p:spPr>
        <p:txBody>
          <a:bodyPr>
            <a:normAutofit/>
          </a:bodyPr>
          <a:lstStyle/>
          <a:p>
            <a:r>
              <a:rPr lang="en-US" b="1" dirty="0" smtClean="0">
                <a:solidFill>
                  <a:srgbClr val="FF0000"/>
                </a:solidFill>
                <a:latin typeface="Arial" pitchFamily="34" charset="0"/>
                <a:cs typeface="Arial" pitchFamily="34" charset="0"/>
              </a:rPr>
              <a:t>Key Insights Summary</a:t>
            </a:r>
          </a:p>
          <a:p>
            <a:r>
              <a:rPr lang="en-US" sz="2000" dirty="0" smtClean="0">
                <a:solidFill>
                  <a:schemeClr val="tx1"/>
                </a:solidFill>
                <a:latin typeface="Times New Roman" pitchFamily="18" charset="0"/>
                <a:cs typeface="Times New Roman" pitchFamily="18" charset="0"/>
              </a:rPr>
              <a:t>The analysis highlights clear behavioral patterns across customer segments,          product categories, and payment preferences:</a:t>
            </a:r>
            <a:endParaRPr lang="en-US" sz="2000" b="1" dirty="0">
              <a:solidFill>
                <a:schemeClr val="tx1"/>
              </a:solidFill>
              <a:latin typeface="Times New Roman" pitchFamily="18" charset="0"/>
              <a:cs typeface="Times New Roman" pitchFamily="18" charset="0"/>
            </a:endParaRPr>
          </a:p>
        </p:txBody>
      </p:sp>
      <p:pic>
        <p:nvPicPr>
          <p:cNvPr id="4" name="Picture 3" descr="pngegg (35).png"/>
          <p:cNvPicPr>
            <a:picLocks noChangeAspect="1"/>
          </p:cNvPicPr>
          <p:nvPr/>
        </p:nvPicPr>
        <p:blipFill>
          <a:blip r:embed="rId4" cstate="print"/>
          <a:stretch>
            <a:fillRect/>
          </a:stretch>
        </p:blipFill>
        <p:spPr>
          <a:xfrm>
            <a:off x="362741" y="419423"/>
            <a:ext cx="1040908" cy="983562"/>
          </a:xfrm>
          <a:prstGeom prst="rect">
            <a:avLst/>
          </a:prstGeom>
        </p:spPr>
      </p:pic>
      <p:sp>
        <p:nvSpPr>
          <p:cNvPr id="6" name="Rectangle 5"/>
          <p:cNvSpPr/>
          <p:nvPr/>
        </p:nvSpPr>
        <p:spPr>
          <a:xfrm>
            <a:off x="755576" y="2936954"/>
            <a:ext cx="7992888" cy="2585323"/>
          </a:xfrm>
          <a:prstGeom prst="rect">
            <a:avLst/>
          </a:prstGeom>
        </p:spPr>
        <p:txBody>
          <a:bodyPr wrap="square">
            <a:spAutoFit/>
          </a:bodyPr>
          <a:lstStyle/>
          <a:p>
            <a:pPr lvl="0" fontAlgn="base">
              <a:spcBef>
                <a:spcPct val="0"/>
              </a:spcBef>
              <a:spcAft>
                <a:spcPct val="0"/>
              </a:spcAft>
            </a:pPr>
            <a:r>
              <a:rPr lang="en-US" dirty="0" smtClean="0">
                <a:solidFill>
                  <a:srgbClr val="00B0F0"/>
                </a:solidFill>
              </a:rPr>
              <a:t>💠   </a:t>
            </a:r>
            <a:r>
              <a:rPr lang="en-US" dirty="0" smtClean="0"/>
              <a:t> </a:t>
            </a:r>
            <a:r>
              <a:rPr lang="en-US" b="1" dirty="0" smtClean="0">
                <a:solidFill>
                  <a:prstClr val="black"/>
                </a:solidFill>
                <a:latin typeface="Times New Roman" pitchFamily="18" charset="0"/>
                <a:cs typeface="Times New Roman" pitchFamily="18" charset="0"/>
              </a:rPr>
              <a:t>Female gender contributes more revenue</a:t>
            </a:r>
            <a:r>
              <a:rPr lang="en-US" dirty="0" smtClean="0">
                <a:solidFill>
                  <a:prstClr val="black"/>
                </a:solidFill>
                <a:latin typeface="Times New Roman" pitchFamily="18" charset="0"/>
                <a:cs typeface="Times New Roman" pitchFamily="18" charset="0"/>
              </a:rPr>
              <a:t>, making it the primary high-value customer segment.</a:t>
            </a:r>
          </a:p>
          <a:p>
            <a:pPr lvl="0" fontAlgn="base">
              <a:spcBef>
                <a:spcPct val="0"/>
              </a:spcBef>
              <a:spcAft>
                <a:spcPct val="0"/>
              </a:spcAft>
            </a:pPr>
            <a:endParaRPr lang="en-US" dirty="0" smtClean="0">
              <a:solidFill>
                <a:prstClr val="black"/>
              </a:solidFill>
              <a:latin typeface="Times New Roman" pitchFamily="18" charset="0"/>
              <a:cs typeface="Times New Roman" pitchFamily="18" charset="0"/>
            </a:endParaRPr>
          </a:p>
          <a:p>
            <a:pPr lvl="0" eaLnBrk="0" fontAlgn="base" hangingPunct="0">
              <a:spcBef>
                <a:spcPct val="0"/>
              </a:spcBef>
              <a:spcAft>
                <a:spcPct val="0"/>
              </a:spcAft>
            </a:pPr>
            <a:r>
              <a:rPr lang="en-US" dirty="0" smtClean="0">
                <a:solidFill>
                  <a:srgbClr val="00B0F0"/>
                </a:solidFill>
              </a:rPr>
              <a:t>💠   </a:t>
            </a:r>
            <a:r>
              <a:rPr lang="en-US" dirty="0" smtClean="0"/>
              <a:t> </a:t>
            </a:r>
            <a:r>
              <a:rPr lang="en-US" b="1" dirty="0" smtClean="0">
                <a:solidFill>
                  <a:prstClr val="black"/>
                </a:solidFill>
                <a:latin typeface="Times New Roman" pitchFamily="18" charset="0"/>
                <a:cs typeface="Times New Roman" pitchFamily="18" charset="0"/>
              </a:rPr>
              <a:t>Age 25–34 and 35–44</a:t>
            </a:r>
            <a:r>
              <a:rPr lang="en-US" dirty="0" smtClean="0">
                <a:solidFill>
                  <a:prstClr val="black"/>
                </a:solidFill>
                <a:latin typeface="Times New Roman" pitchFamily="18" charset="0"/>
                <a:cs typeface="Times New Roman" pitchFamily="18" charset="0"/>
              </a:rPr>
              <a:t> show the highest buying activity and spending levels.</a:t>
            </a:r>
          </a:p>
          <a:p>
            <a:pPr lvl="0" eaLnBrk="0" fontAlgn="base" hangingPunct="0">
              <a:spcBef>
                <a:spcPct val="0"/>
              </a:spcBef>
              <a:spcAft>
                <a:spcPct val="0"/>
              </a:spcAft>
            </a:pPr>
            <a:endParaRPr lang="en-US" dirty="0" smtClean="0">
              <a:solidFill>
                <a:prstClr val="black"/>
              </a:solidFill>
              <a:latin typeface="Times New Roman" pitchFamily="18" charset="0"/>
              <a:cs typeface="Times New Roman" pitchFamily="18" charset="0"/>
            </a:endParaRPr>
          </a:p>
          <a:p>
            <a:pPr lvl="0" eaLnBrk="0" fontAlgn="base" hangingPunct="0">
              <a:spcBef>
                <a:spcPct val="0"/>
              </a:spcBef>
              <a:spcAft>
                <a:spcPct val="0"/>
              </a:spcAft>
            </a:pPr>
            <a:r>
              <a:rPr lang="en-US" dirty="0" smtClean="0">
                <a:solidFill>
                  <a:srgbClr val="00B0F0"/>
                </a:solidFill>
              </a:rPr>
              <a:t>💠    </a:t>
            </a:r>
            <a:r>
              <a:rPr lang="en-US" b="1" dirty="0" smtClean="0">
                <a:solidFill>
                  <a:prstClr val="black"/>
                </a:solidFill>
                <a:latin typeface="Times New Roman" pitchFamily="18" charset="0"/>
                <a:cs typeface="Times New Roman" pitchFamily="18" charset="0"/>
              </a:rPr>
              <a:t>Top-performing categories</a:t>
            </a:r>
            <a:r>
              <a:rPr lang="en-US" dirty="0" smtClean="0">
                <a:solidFill>
                  <a:prstClr val="black"/>
                </a:solidFill>
                <a:latin typeface="Times New Roman" pitchFamily="18" charset="0"/>
                <a:cs typeface="Times New Roman" pitchFamily="18" charset="0"/>
              </a:rPr>
              <a:t> generate a major share of total sales, driving overall           business growth.</a:t>
            </a:r>
          </a:p>
          <a:p>
            <a:pPr lvl="0" eaLnBrk="0" fontAlgn="base" hangingPunct="0">
              <a:spcBef>
                <a:spcPct val="0"/>
              </a:spcBef>
              <a:spcAft>
                <a:spcPct val="0"/>
              </a:spcAft>
            </a:pPr>
            <a:endParaRPr lang="en-US" dirty="0" smtClean="0">
              <a:solidFill>
                <a:prstClr val="black"/>
              </a:solidFill>
              <a:latin typeface="Times New Roman" pitchFamily="18" charset="0"/>
              <a:cs typeface="Times New Roman" pitchFamily="18" charset="0"/>
            </a:endParaRPr>
          </a:p>
          <a:p>
            <a:pPr lvl="0" eaLnBrk="0" fontAlgn="base" hangingPunct="0">
              <a:spcBef>
                <a:spcPct val="0"/>
              </a:spcBef>
              <a:spcAft>
                <a:spcPct val="0"/>
              </a:spcAft>
            </a:pPr>
            <a:r>
              <a:rPr lang="en-US" dirty="0" smtClean="0">
                <a:solidFill>
                  <a:srgbClr val="00B0F0"/>
                </a:solidFill>
              </a:rPr>
              <a:t>💠    </a:t>
            </a:r>
            <a:r>
              <a:rPr lang="en-US" dirty="0" smtClean="0"/>
              <a:t> </a:t>
            </a:r>
            <a:r>
              <a:rPr lang="en-US" b="1" dirty="0" smtClean="0">
                <a:solidFill>
                  <a:prstClr val="black"/>
                </a:solidFill>
                <a:latin typeface="Times New Roman" pitchFamily="18" charset="0"/>
                <a:cs typeface="Times New Roman" pitchFamily="18" charset="0"/>
              </a:rPr>
              <a:t>Cash &amp; Cards </a:t>
            </a:r>
            <a:r>
              <a:rPr lang="en-US" dirty="0" smtClean="0">
                <a:solidFill>
                  <a:prstClr val="black"/>
                </a:solidFill>
                <a:latin typeface="Times New Roman" pitchFamily="18" charset="0"/>
                <a:cs typeface="Times New Roman" pitchFamily="18" charset="0"/>
              </a:rPr>
              <a:t>are the most preferred modes across customers.</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EFD1"/>
            </a:gs>
            <a:gs pos="64999">
              <a:srgbClr val="F0EBD5"/>
            </a:gs>
            <a:gs pos="100000">
              <a:srgbClr val="D1C39F"/>
            </a:gs>
          </a:gsLst>
          <a:lin ang="5400000" scaled="0"/>
        </a:gradFill>
        <a:effectLst/>
      </p:bgPr>
    </p:bg>
    <p:spTree>
      <p:nvGrpSpPr>
        <p:cNvPr id="1" name=""/>
        <p:cNvGrpSpPr/>
        <p:nvPr/>
      </p:nvGrpSpPr>
      <p:grpSpPr>
        <a:xfrm>
          <a:off x="0" y="0"/>
          <a:ext cx="0" cy="0"/>
          <a:chOff x="0" y="0"/>
          <a:chExt cx="0" cy="0"/>
        </a:xfrm>
      </p:grpSpPr>
      <p:pic>
        <p:nvPicPr>
          <p:cNvPr id="6" name="Picture 5" descr="pngegg (51).png"/>
          <p:cNvPicPr>
            <a:picLocks noChangeAspect="1"/>
          </p:cNvPicPr>
          <p:nvPr/>
        </p:nvPicPr>
        <p:blipFill>
          <a:blip r:embed="rId3" cstate="print">
            <a:lum bright="40000"/>
          </a:blip>
          <a:stretch>
            <a:fillRect/>
          </a:stretch>
        </p:blipFill>
        <p:spPr>
          <a:xfrm>
            <a:off x="1115889" y="575791"/>
            <a:ext cx="7272535" cy="6480447"/>
          </a:xfrm>
          <a:prstGeom prst="rect">
            <a:avLst/>
          </a:prstGeom>
        </p:spPr>
      </p:pic>
      <p:sp>
        <p:nvSpPr>
          <p:cNvPr id="2" name="Title 1"/>
          <p:cNvSpPr>
            <a:spLocks noGrp="1"/>
          </p:cNvSpPr>
          <p:nvPr>
            <p:ph type="ctrTitle"/>
          </p:nvPr>
        </p:nvSpPr>
        <p:spPr>
          <a:xfrm>
            <a:off x="683568" y="178249"/>
            <a:ext cx="7772400" cy="1389038"/>
          </a:xfrm>
        </p:spPr>
        <p:txBody>
          <a:bodyPr/>
          <a:lstStyle/>
          <a:p>
            <a:r>
              <a:rPr lang="en-IN" b="1" dirty="0" smtClean="0">
                <a:latin typeface="Times New Roman" pitchFamily="18" charset="0"/>
                <a:cs typeface="Times New Roman" pitchFamily="18" charset="0"/>
              </a:rPr>
              <a:t>Customer Data Analysis </a:t>
            </a:r>
            <a:endParaRPr lang="en-US" b="1" dirty="0">
              <a:latin typeface="Times New Roman" pitchFamily="18" charset="0"/>
              <a:cs typeface="Times New Roman" pitchFamily="18" charset="0"/>
            </a:endParaRPr>
          </a:p>
        </p:txBody>
      </p:sp>
      <p:sp>
        <p:nvSpPr>
          <p:cNvPr id="3" name="Subtitle 2"/>
          <p:cNvSpPr>
            <a:spLocks noGrp="1"/>
          </p:cNvSpPr>
          <p:nvPr>
            <p:ph type="subTitle" idx="1"/>
          </p:nvPr>
        </p:nvSpPr>
        <p:spPr>
          <a:xfrm>
            <a:off x="251520" y="1439887"/>
            <a:ext cx="8712968" cy="1656045"/>
          </a:xfrm>
        </p:spPr>
        <p:txBody>
          <a:bodyPr>
            <a:normAutofit/>
          </a:bodyPr>
          <a:lstStyle/>
          <a:p>
            <a:r>
              <a:rPr lang="en-US" b="1" dirty="0" smtClean="0">
                <a:solidFill>
                  <a:srgbClr val="FF0000"/>
                </a:solidFill>
                <a:latin typeface="Arial" pitchFamily="34" charset="0"/>
                <a:cs typeface="Arial" pitchFamily="34" charset="0"/>
              </a:rPr>
              <a:t>Business Recommendations</a:t>
            </a:r>
          </a:p>
          <a:p>
            <a:r>
              <a:rPr lang="en-US" sz="2000" dirty="0" smtClean="0">
                <a:solidFill>
                  <a:schemeClr val="tx1"/>
                </a:solidFill>
                <a:latin typeface="Times New Roman" pitchFamily="18" charset="0"/>
                <a:cs typeface="Times New Roman" pitchFamily="18" charset="0"/>
              </a:rPr>
              <a:t>Based on data-driven insights from customer trends and revenue patterns, the following strategic actions are recommended:</a:t>
            </a:r>
            <a:endParaRPr lang="en-US" sz="2000" b="1" dirty="0">
              <a:solidFill>
                <a:schemeClr val="tx1"/>
              </a:solidFill>
              <a:latin typeface="Times New Roman" pitchFamily="18" charset="0"/>
              <a:cs typeface="Times New Roman" pitchFamily="18" charset="0"/>
            </a:endParaRPr>
          </a:p>
        </p:txBody>
      </p:sp>
      <p:pic>
        <p:nvPicPr>
          <p:cNvPr id="4" name="Picture 3" descr="pngegg (35).png"/>
          <p:cNvPicPr>
            <a:picLocks noChangeAspect="1"/>
          </p:cNvPicPr>
          <p:nvPr/>
        </p:nvPicPr>
        <p:blipFill>
          <a:blip r:embed="rId4" cstate="print"/>
          <a:stretch>
            <a:fillRect/>
          </a:stretch>
        </p:blipFill>
        <p:spPr>
          <a:xfrm>
            <a:off x="362741" y="419423"/>
            <a:ext cx="1040908" cy="983562"/>
          </a:xfrm>
          <a:prstGeom prst="rect">
            <a:avLst/>
          </a:prstGeom>
        </p:spPr>
      </p:pic>
      <p:sp>
        <p:nvSpPr>
          <p:cNvPr id="5" name="Rectangle 4"/>
          <p:cNvSpPr/>
          <p:nvPr/>
        </p:nvSpPr>
        <p:spPr>
          <a:xfrm>
            <a:off x="755576" y="2736031"/>
            <a:ext cx="8568952" cy="3570208"/>
          </a:xfrm>
          <a:prstGeom prst="rect">
            <a:avLst/>
          </a:prstGeom>
        </p:spPr>
        <p:txBody>
          <a:bodyPr wrap="square">
            <a:spAutoFit/>
          </a:bodyPr>
          <a:lstStyle/>
          <a:p>
            <a:r>
              <a:rPr lang="en-US" sz="1600" b="1" dirty="0" smtClean="0">
                <a:latin typeface="Times New Roman" pitchFamily="18" charset="0"/>
                <a:cs typeface="Times New Roman" pitchFamily="18" charset="0"/>
              </a:rPr>
              <a:t>1. </a:t>
            </a:r>
            <a:r>
              <a:rPr lang="en-US" sz="1600" b="1" dirty="0" smtClean="0">
                <a:solidFill>
                  <a:srgbClr val="C00000"/>
                </a:solidFill>
                <a:latin typeface="Times New Roman" pitchFamily="18" charset="0"/>
                <a:cs typeface="Times New Roman" pitchFamily="18" charset="0"/>
              </a:rPr>
              <a:t>Target High-Performing Age Groups:</a:t>
            </a:r>
          </a:p>
          <a:p>
            <a:r>
              <a:rPr lang="en-US" sz="1600" dirty="0" smtClean="0">
                <a:latin typeface="Times New Roman" pitchFamily="18" charset="0"/>
                <a:cs typeface="Times New Roman" pitchFamily="18" charset="0"/>
              </a:rPr>
              <a:t>Focus marketing and loyalty programs on the strong </a:t>
            </a:r>
            <a:r>
              <a:rPr lang="en-US" sz="1600" b="1" dirty="0" smtClean="0">
                <a:latin typeface="Times New Roman" pitchFamily="18" charset="0"/>
                <a:cs typeface="Times New Roman" pitchFamily="18" charset="0"/>
              </a:rPr>
              <a:t>25–34 and 35–44</a:t>
            </a:r>
            <a:r>
              <a:rPr lang="en-US" sz="1600" dirty="0" smtClean="0">
                <a:latin typeface="Times New Roman" pitchFamily="18" charset="0"/>
                <a:cs typeface="Times New Roman" pitchFamily="18" charset="0"/>
              </a:rPr>
              <a:t> customer segments.</a:t>
            </a:r>
          </a:p>
          <a:p>
            <a:endParaRPr lang="en-US" sz="1600" dirty="0" smtClean="0">
              <a:latin typeface="Times New Roman" pitchFamily="18" charset="0"/>
              <a:cs typeface="Times New Roman" pitchFamily="18" charset="0"/>
            </a:endParaRPr>
          </a:p>
          <a:p>
            <a:r>
              <a:rPr lang="en-US" sz="1600" b="1" dirty="0" smtClean="0">
                <a:latin typeface="Times New Roman" pitchFamily="18" charset="0"/>
                <a:cs typeface="Times New Roman" pitchFamily="18" charset="0"/>
              </a:rPr>
              <a:t>2. </a:t>
            </a:r>
            <a:r>
              <a:rPr lang="en-US" sz="1600" b="1" dirty="0" smtClean="0">
                <a:solidFill>
                  <a:srgbClr val="C00000"/>
                </a:solidFill>
                <a:latin typeface="Times New Roman" pitchFamily="18" charset="0"/>
                <a:cs typeface="Times New Roman" pitchFamily="18" charset="0"/>
              </a:rPr>
              <a:t>Optimize Inventory for Top Categories:</a:t>
            </a:r>
          </a:p>
          <a:p>
            <a:r>
              <a:rPr lang="en-US" sz="1600" dirty="0" smtClean="0">
                <a:latin typeface="Times New Roman" pitchFamily="18" charset="0"/>
                <a:cs typeface="Times New Roman" pitchFamily="18" charset="0"/>
              </a:rPr>
              <a:t>Prioritize stock and promotions for </a:t>
            </a:r>
            <a:r>
              <a:rPr lang="en-US" sz="1600" b="1" dirty="0" smtClean="0">
                <a:latin typeface="Times New Roman" pitchFamily="18" charset="0"/>
                <a:cs typeface="Times New Roman" pitchFamily="18" charset="0"/>
              </a:rPr>
              <a:t>high-demand categories</a:t>
            </a:r>
            <a:r>
              <a:rPr lang="en-US" sz="1600" dirty="0" smtClean="0">
                <a:latin typeface="Times New Roman" pitchFamily="18" charset="0"/>
                <a:cs typeface="Times New Roman" pitchFamily="18" charset="0"/>
              </a:rPr>
              <a:t>, especially during peak months.</a:t>
            </a:r>
          </a:p>
          <a:p>
            <a:endParaRPr lang="en-US" sz="1600" dirty="0" smtClean="0">
              <a:latin typeface="Times New Roman" pitchFamily="18" charset="0"/>
              <a:cs typeface="Times New Roman" pitchFamily="18" charset="0"/>
            </a:endParaRPr>
          </a:p>
          <a:p>
            <a:r>
              <a:rPr lang="en-US" sz="1600" b="1" dirty="0" smtClean="0">
                <a:latin typeface="Times New Roman" pitchFamily="18" charset="0"/>
                <a:cs typeface="Times New Roman" pitchFamily="18" charset="0"/>
              </a:rPr>
              <a:t>3</a:t>
            </a:r>
            <a:r>
              <a:rPr lang="en-US" sz="1600" b="1" dirty="0" smtClean="0">
                <a:solidFill>
                  <a:srgbClr val="C00000"/>
                </a:solidFill>
                <a:latin typeface="Times New Roman" pitchFamily="18" charset="0"/>
                <a:cs typeface="Times New Roman" pitchFamily="18" charset="0"/>
              </a:rPr>
              <a:t>. Strengthen Female-Focused Campaigns:</a:t>
            </a:r>
          </a:p>
          <a:p>
            <a:r>
              <a:rPr lang="en-US" sz="1600" dirty="0" smtClean="0">
                <a:latin typeface="Times New Roman" pitchFamily="18" charset="0"/>
                <a:cs typeface="Times New Roman" pitchFamily="18" charset="0"/>
              </a:rPr>
              <a:t>Introduce targeted offers and product bundles for </a:t>
            </a:r>
            <a:r>
              <a:rPr lang="en-US" sz="1600" b="1" dirty="0" smtClean="0">
                <a:latin typeface="Times New Roman" pitchFamily="18" charset="0"/>
                <a:cs typeface="Times New Roman" pitchFamily="18" charset="0"/>
              </a:rPr>
              <a:t>female shoppers</a:t>
            </a:r>
            <a:r>
              <a:rPr lang="en-US" sz="1600" dirty="0" smtClean="0">
                <a:latin typeface="Times New Roman" pitchFamily="18" charset="0"/>
                <a:cs typeface="Times New Roman" pitchFamily="18" charset="0"/>
              </a:rPr>
              <a:t> if they drive higher revenue.</a:t>
            </a:r>
          </a:p>
          <a:p>
            <a:endParaRPr lang="en-US" sz="1600" dirty="0" smtClean="0">
              <a:latin typeface="Times New Roman" pitchFamily="18" charset="0"/>
              <a:cs typeface="Times New Roman" pitchFamily="18" charset="0"/>
            </a:endParaRPr>
          </a:p>
          <a:p>
            <a:r>
              <a:rPr lang="en-US" sz="1600" b="1" dirty="0" smtClean="0">
                <a:latin typeface="Times New Roman" pitchFamily="18" charset="0"/>
                <a:cs typeface="Times New Roman" pitchFamily="18" charset="0"/>
              </a:rPr>
              <a:t>4. </a:t>
            </a:r>
            <a:r>
              <a:rPr lang="en-US" sz="1600" b="1" dirty="0" smtClean="0">
                <a:solidFill>
                  <a:srgbClr val="C00000"/>
                </a:solidFill>
                <a:latin typeface="Times New Roman" pitchFamily="18" charset="0"/>
                <a:cs typeface="Times New Roman" pitchFamily="18" charset="0"/>
              </a:rPr>
              <a:t>Encourage Digital Payments:</a:t>
            </a:r>
          </a:p>
          <a:p>
            <a:r>
              <a:rPr lang="en-US" sz="1600" dirty="0" smtClean="0">
                <a:latin typeface="Times New Roman" pitchFamily="18" charset="0"/>
                <a:cs typeface="Times New Roman" pitchFamily="18" charset="0"/>
              </a:rPr>
              <a:t>Boost UPI &amp; card usage with </a:t>
            </a:r>
            <a:r>
              <a:rPr lang="en-US" sz="1600" b="1" dirty="0" smtClean="0">
                <a:latin typeface="Times New Roman" pitchFamily="18" charset="0"/>
                <a:cs typeface="Times New Roman" pitchFamily="18" charset="0"/>
              </a:rPr>
              <a:t>cash back, discounts, and reward-based incentives</a:t>
            </a:r>
            <a:r>
              <a:rPr lang="en-US" sz="1600" dirty="0" smtClean="0">
                <a:latin typeface="Times New Roman" pitchFamily="18" charset="0"/>
                <a:cs typeface="Times New Roman" pitchFamily="18" charset="0"/>
              </a:rPr>
              <a:t>.</a:t>
            </a:r>
          </a:p>
          <a:p>
            <a:endParaRPr lang="en-US" sz="1600" dirty="0" smtClean="0">
              <a:latin typeface="Times New Roman" pitchFamily="18" charset="0"/>
              <a:cs typeface="Times New Roman" pitchFamily="18" charset="0"/>
            </a:endParaRPr>
          </a:p>
          <a:p>
            <a:r>
              <a:rPr lang="en-US" sz="1600" b="1" dirty="0" smtClean="0">
                <a:latin typeface="Times New Roman" pitchFamily="18" charset="0"/>
                <a:cs typeface="Times New Roman" pitchFamily="18" charset="0"/>
              </a:rPr>
              <a:t>5. </a:t>
            </a:r>
            <a:r>
              <a:rPr lang="en-US" sz="1600" b="1" dirty="0" smtClean="0">
                <a:solidFill>
                  <a:srgbClr val="C00000"/>
                </a:solidFill>
                <a:latin typeface="Times New Roman" pitchFamily="18" charset="0"/>
                <a:cs typeface="Times New Roman" pitchFamily="18" charset="0"/>
              </a:rPr>
              <a:t>Deliver Personalized Product Recommendations:</a:t>
            </a:r>
          </a:p>
          <a:p>
            <a:r>
              <a:rPr lang="en-US" sz="1600" dirty="0" smtClean="0">
                <a:latin typeface="Times New Roman" pitchFamily="18" charset="0"/>
                <a:cs typeface="Times New Roman" pitchFamily="18" charset="0"/>
              </a:rPr>
              <a:t>Use age and gender insights to provide </a:t>
            </a:r>
            <a:r>
              <a:rPr lang="en-US" sz="1600" b="1" dirty="0" smtClean="0">
                <a:latin typeface="Times New Roman" pitchFamily="18" charset="0"/>
                <a:cs typeface="Times New Roman" pitchFamily="18" charset="0"/>
              </a:rPr>
              <a:t>customized category suggestions</a:t>
            </a:r>
            <a:r>
              <a:rPr lang="en-US" sz="1600" dirty="0" smtClean="0">
                <a:latin typeface="Times New Roman" pitchFamily="18" charset="0"/>
                <a:cs typeface="Times New Roman" pitchFamily="18" charset="0"/>
              </a:rPr>
              <a:t> and increase basket value</a:t>
            </a:r>
            <a:r>
              <a:rPr lang="en-US" dirty="0" smtClean="0"/>
              <a:t>.</a:t>
            </a:r>
            <a:endParaRPr 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EFD1"/>
            </a:gs>
            <a:gs pos="64999">
              <a:srgbClr val="F0EBD5"/>
            </a:gs>
            <a:gs pos="100000">
              <a:srgbClr val="D1C39F"/>
            </a:gs>
          </a:gsLst>
          <a:lin ang="5400000" scaled="0"/>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3568" y="178249"/>
            <a:ext cx="7772400" cy="1389038"/>
          </a:xfrm>
        </p:spPr>
        <p:txBody>
          <a:bodyPr/>
          <a:lstStyle/>
          <a:p>
            <a:r>
              <a:rPr lang="en-IN" b="1" dirty="0" smtClean="0">
                <a:latin typeface="Times New Roman" pitchFamily="18" charset="0"/>
                <a:cs typeface="Times New Roman" pitchFamily="18" charset="0"/>
              </a:rPr>
              <a:t>Customer Data Analysis </a:t>
            </a:r>
            <a:endParaRPr lang="en-US" b="1" dirty="0">
              <a:latin typeface="Times New Roman" pitchFamily="18" charset="0"/>
              <a:cs typeface="Times New Roman" pitchFamily="18" charset="0"/>
            </a:endParaRPr>
          </a:p>
        </p:txBody>
      </p:sp>
      <p:pic>
        <p:nvPicPr>
          <p:cNvPr id="4" name="Picture 3" descr="pngegg (35).png"/>
          <p:cNvPicPr>
            <a:picLocks noChangeAspect="1"/>
          </p:cNvPicPr>
          <p:nvPr/>
        </p:nvPicPr>
        <p:blipFill>
          <a:blip r:embed="rId3" cstate="print"/>
          <a:stretch>
            <a:fillRect/>
          </a:stretch>
        </p:blipFill>
        <p:spPr>
          <a:xfrm>
            <a:off x="362741" y="419423"/>
            <a:ext cx="1040908" cy="983562"/>
          </a:xfrm>
          <a:prstGeom prst="rect">
            <a:avLst/>
          </a:prstGeom>
        </p:spPr>
      </p:pic>
      <p:pic>
        <p:nvPicPr>
          <p:cNvPr id="7" name="Picture 6" descr="Screenshot 2025-11-15 111328.png"/>
          <p:cNvPicPr>
            <a:picLocks noChangeAspect="1"/>
          </p:cNvPicPr>
          <p:nvPr/>
        </p:nvPicPr>
        <p:blipFill>
          <a:blip r:embed="rId4" cstate="print"/>
          <a:srcRect l="14175" t="20753" r="18101" b="8095"/>
          <a:stretch>
            <a:fillRect/>
          </a:stretch>
        </p:blipFill>
        <p:spPr>
          <a:xfrm>
            <a:off x="539552" y="1875284"/>
            <a:ext cx="7992888" cy="4461147"/>
          </a:xfrm>
          <a:prstGeom prst="rect">
            <a:avLst/>
          </a:prstGeom>
        </p:spPr>
      </p:pic>
      <p:sp>
        <p:nvSpPr>
          <p:cNvPr id="11" name="Rectangle 10"/>
          <p:cNvSpPr/>
          <p:nvPr/>
        </p:nvSpPr>
        <p:spPr>
          <a:xfrm>
            <a:off x="1835696" y="1223863"/>
            <a:ext cx="5112568" cy="584775"/>
          </a:xfrm>
          <a:prstGeom prst="rect">
            <a:avLst/>
          </a:prstGeom>
        </p:spPr>
        <p:txBody>
          <a:bodyPr wrap="square">
            <a:spAutoFit/>
          </a:bodyPr>
          <a:lstStyle/>
          <a:p>
            <a:pPr algn="ctr"/>
            <a:r>
              <a:rPr lang="en-US" sz="3200" b="1" dirty="0" smtClean="0">
                <a:solidFill>
                  <a:srgbClr val="FF0000"/>
                </a:solidFill>
                <a:latin typeface="Arial" pitchFamily="34" charset="0"/>
                <a:cs typeface="Arial" pitchFamily="34" charset="0"/>
              </a:rPr>
              <a:t>Dashboard</a:t>
            </a:r>
            <a:endParaRPr lang="en-US" sz="3200" b="1" dirty="0">
              <a:solidFill>
                <a:srgbClr val="FF0000"/>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EFD1"/>
            </a:gs>
            <a:gs pos="64999">
              <a:srgbClr val="F0EBD5"/>
            </a:gs>
            <a:gs pos="100000">
              <a:srgbClr val="D1C39F"/>
            </a:gs>
          </a:gsLst>
          <a:lin ang="5400000" scaled="0"/>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3568" y="178249"/>
            <a:ext cx="7772400" cy="1389038"/>
          </a:xfrm>
        </p:spPr>
        <p:txBody>
          <a:bodyPr/>
          <a:lstStyle/>
          <a:p>
            <a:r>
              <a:rPr lang="en-IN" b="1" dirty="0" smtClean="0">
                <a:latin typeface="Times New Roman" pitchFamily="18" charset="0"/>
                <a:cs typeface="Times New Roman" pitchFamily="18" charset="0"/>
              </a:rPr>
              <a:t>Customer Data Analysis </a:t>
            </a:r>
            <a:endParaRPr lang="en-US" b="1" dirty="0">
              <a:latin typeface="Times New Roman" pitchFamily="18" charset="0"/>
              <a:cs typeface="Times New Roman" pitchFamily="18" charset="0"/>
            </a:endParaRPr>
          </a:p>
        </p:txBody>
      </p:sp>
      <p:pic>
        <p:nvPicPr>
          <p:cNvPr id="4" name="Picture 3" descr="pngegg (35).png"/>
          <p:cNvPicPr>
            <a:picLocks noChangeAspect="1"/>
          </p:cNvPicPr>
          <p:nvPr/>
        </p:nvPicPr>
        <p:blipFill>
          <a:blip r:embed="rId3" cstate="print"/>
          <a:stretch>
            <a:fillRect/>
          </a:stretch>
        </p:blipFill>
        <p:spPr>
          <a:xfrm>
            <a:off x="362741" y="419423"/>
            <a:ext cx="1040908" cy="983562"/>
          </a:xfrm>
          <a:prstGeom prst="rect">
            <a:avLst/>
          </a:prstGeom>
        </p:spPr>
      </p:pic>
      <p:pic>
        <p:nvPicPr>
          <p:cNvPr id="5" name="Picture 4" descr="Screenshot 2025-11-15 111736.png"/>
          <p:cNvPicPr>
            <a:picLocks noChangeAspect="1"/>
          </p:cNvPicPr>
          <p:nvPr/>
        </p:nvPicPr>
        <p:blipFill>
          <a:blip r:embed="rId4" cstate="print"/>
          <a:srcRect l="14563" t="21836" r="18500" b="7012"/>
          <a:stretch>
            <a:fillRect/>
          </a:stretch>
        </p:blipFill>
        <p:spPr>
          <a:xfrm>
            <a:off x="683568" y="1943943"/>
            <a:ext cx="7778364" cy="4464496"/>
          </a:xfrm>
          <a:prstGeom prst="rect">
            <a:avLst/>
          </a:prstGeom>
        </p:spPr>
      </p:pic>
      <p:sp>
        <p:nvSpPr>
          <p:cNvPr id="7" name="Rectangle 6"/>
          <p:cNvSpPr/>
          <p:nvPr/>
        </p:nvSpPr>
        <p:spPr>
          <a:xfrm>
            <a:off x="1835696" y="1223863"/>
            <a:ext cx="5112568" cy="584775"/>
          </a:xfrm>
          <a:prstGeom prst="rect">
            <a:avLst/>
          </a:prstGeom>
        </p:spPr>
        <p:txBody>
          <a:bodyPr wrap="square">
            <a:spAutoFit/>
          </a:bodyPr>
          <a:lstStyle/>
          <a:p>
            <a:pPr algn="ctr"/>
            <a:r>
              <a:rPr lang="en-US" sz="3200" b="1" dirty="0" smtClean="0">
                <a:solidFill>
                  <a:srgbClr val="FF0000"/>
                </a:solidFill>
                <a:latin typeface="Arial" pitchFamily="34" charset="0"/>
                <a:cs typeface="Arial" pitchFamily="34" charset="0"/>
              </a:rPr>
              <a:t>Dashboard</a:t>
            </a:r>
            <a:endParaRPr lang="en-US" sz="3200" b="1" dirty="0">
              <a:solidFill>
                <a:srgbClr val="FF0000"/>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EFD1"/>
            </a:gs>
            <a:gs pos="64999">
              <a:srgbClr val="F0EBD5"/>
            </a:gs>
            <a:gs pos="100000">
              <a:srgbClr val="D1C39F"/>
            </a:gs>
          </a:gsLst>
          <a:lin ang="5400000" scaled="0"/>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3568" y="178249"/>
            <a:ext cx="7772400" cy="1389038"/>
          </a:xfrm>
        </p:spPr>
        <p:txBody>
          <a:bodyPr/>
          <a:lstStyle/>
          <a:p>
            <a:r>
              <a:rPr lang="en-IN" b="1" dirty="0" smtClean="0">
                <a:latin typeface="Times New Roman" pitchFamily="18" charset="0"/>
                <a:cs typeface="Times New Roman" pitchFamily="18" charset="0"/>
              </a:rPr>
              <a:t>Customer Data Analysis </a:t>
            </a:r>
            <a:endParaRPr lang="en-US" b="1" dirty="0">
              <a:latin typeface="Times New Roman" pitchFamily="18" charset="0"/>
              <a:cs typeface="Times New Roman" pitchFamily="18" charset="0"/>
            </a:endParaRPr>
          </a:p>
        </p:txBody>
      </p:sp>
      <p:pic>
        <p:nvPicPr>
          <p:cNvPr id="4" name="Picture 3" descr="pngegg (35).png"/>
          <p:cNvPicPr>
            <a:picLocks noChangeAspect="1"/>
          </p:cNvPicPr>
          <p:nvPr/>
        </p:nvPicPr>
        <p:blipFill>
          <a:blip r:embed="rId3" cstate="print"/>
          <a:stretch>
            <a:fillRect/>
          </a:stretch>
        </p:blipFill>
        <p:spPr>
          <a:xfrm>
            <a:off x="362741" y="419423"/>
            <a:ext cx="1040908" cy="983562"/>
          </a:xfrm>
          <a:prstGeom prst="rect">
            <a:avLst/>
          </a:prstGeom>
        </p:spPr>
      </p:pic>
      <p:pic>
        <p:nvPicPr>
          <p:cNvPr id="5" name="Picture 4" descr="Screenshot 2025-11-15 112618.png"/>
          <p:cNvPicPr>
            <a:picLocks noChangeAspect="1"/>
          </p:cNvPicPr>
          <p:nvPr/>
        </p:nvPicPr>
        <p:blipFill>
          <a:blip r:embed="rId4" cstate="print"/>
          <a:srcRect l="14563" t="20353" r="18500" b="7012"/>
          <a:stretch>
            <a:fillRect/>
          </a:stretch>
        </p:blipFill>
        <p:spPr>
          <a:xfrm>
            <a:off x="518978" y="1871935"/>
            <a:ext cx="7869446" cy="4536504"/>
          </a:xfrm>
          <a:prstGeom prst="rect">
            <a:avLst/>
          </a:prstGeom>
        </p:spPr>
      </p:pic>
      <p:sp>
        <p:nvSpPr>
          <p:cNvPr id="6" name="Rectangle 5"/>
          <p:cNvSpPr/>
          <p:nvPr/>
        </p:nvSpPr>
        <p:spPr>
          <a:xfrm>
            <a:off x="1835696" y="1223863"/>
            <a:ext cx="5112568" cy="584775"/>
          </a:xfrm>
          <a:prstGeom prst="rect">
            <a:avLst/>
          </a:prstGeom>
        </p:spPr>
        <p:txBody>
          <a:bodyPr wrap="square">
            <a:spAutoFit/>
          </a:bodyPr>
          <a:lstStyle/>
          <a:p>
            <a:pPr algn="ctr"/>
            <a:r>
              <a:rPr lang="en-US" sz="3200" b="1" dirty="0" smtClean="0">
                <a:solidFill>
                  <a:srgbClr val="FF0000"/>
                </a:solidFill>
                <a:latin typeface="Arial" pitchFamily="34" charset="0"/>
                <a:cs typeface="Arial" pitchFamily="34" charset="0"/>
              </a:rPr>
              <a:t>Dashboard</a:t>
            </a:r>
            <a:endParaRPr lang="en-US" sz="3200" b="1" dirty="0">
              <a:solidFill>
                <a:srgbClr val="FF0000"/>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EFD1"/>
            </a:gs>
            <a:gs pos="64999">
              <a:srgbClr val="F0EBD5"/>
            </a:gs>
            <a:gs pos="100000">
              <a:srgbClr val="D1C39F"/>
            </a:gs>
          </a:gsLst>
          <a:lin ang="5400000" scaled="0"/>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3568" y="178249"/>
            <a:ext cx="7772400" cy="1389038"/>
          </a:xfrm>
        </p:spPr>
        <p:txBody>
          <a:bodyPr/>
          <a:lstStyle/>
          <a:p>
            <a:r>
              <a:rPr lang="en-IN" b="1" dirty="0" smtClean="0">
                <a:latin typeface="Times New Roman" pitchFamily="18" charset="0"/>
                <a:cs typeface="Times New Roman" pitchFamily="18" charset="0"/>
              </a:rPr>
              <a:t>Customer Data Analysis </a:t>
            </a:r>
            <a:endParaRPr lang="en-US" b="1" dirty="0">
              <a:latin typeface="Times New Roman" pitchFamily="18" charset="0"/>
              <a:cs typeface="Times New Roman" pitchFamily="18" charset="0"/>
            </a:endParaRPr>
          </a:p>
        </p:txBody>
      </p:sp>
      <p:pic>
        <p:nvPicPr>
          <p:cNvPr id="4" name="Picture 3" descr="pngegg (35).png"/>
          <p:cNvPicPr>
            <a:picLocks noChangeAspect="1"/>
          </p:cNvPicPr>
          <p:nvPr/>
        </p:nvPicPr>
        <p:blipFill>
          <a:blip r:embed="rId3" cstate="print"/>
          <a:stretch>
            <a:fillRect/>
          </a:stretch>
        </p:blipFill>
        <p:spPr>
          <a:xfrm>
            <a:off x="362741" y="419423"/>
            <a:ext cx="1040908" cy="983562"/>
          </a:xfrm>
          <a:prstGeom prst="rect">
            <a:avLst/>
          </a:prstGeom>
        </p:spPr>
      </p:pic>
      <p:pic>
        <p:nvPicPr>
          <p:cNvPr id="5" name="Picture 4" descr="pngegg (50).png"/>
          <p:cNvPicPr>
            <a:picLocks noChangeAspect="1"/>
          </p:cNvPicPr>
          <p:nvPr/>
        </p:nvPicPr>
        <p:blipFill>
          <a:blip r:embed="rId4" cstate="print"/>
          <a:stretch>
            <a:fillRect/>
          </a:stretch>
        </p:blipFill>
        <p:spPr>
          <a:xfrm>
            <a:off x="2267744" y="1583903"/>
            <a:ext cx="4824536" cy="4608512"/>
          </a:xfrm>
          <a:prstGeom prst="rect">
            <a:avLst/>
          </a:prstGeom>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854</TotalTime>
  <Words>647</Words>
  <Application>Microsoft Office PowerPoint</Application>
  <PresentationFormat>Custom</PresentationFormat>
  <Paragraphs>137</Paragraphs>
  <Slides>21</Slides>
  <Notes>21</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Office Theme</vt:lpstr>
      <vt:lpstr>Customer Data Analysis </vt:lpstr>
      <vt:lpstr>Customer Data Analysis </vt:lpstr>
      <vt:lpstr>Customer Data Analysis </vt:lpstr>
      <vt:lpstr>Customer Data Analysis </vt:lpstr>
      <vt:lpstr>Customer Data Analysis </vt:lpstr>
      <vt:lpstr>Customer Data Analysis </vt:lpstr>
      <vt:lpstr>Customer Data Analysis </vt:lpstr>
      <vt:lpstr>Customer Data Analysis </vt:lpstr>
      <vt:lpstr>Customer Data Analysis </vt:lpstr>
      <vt:lpstr>Customer Data Analysis </vt:lpstr>
      <vt:lpstr>Customer Data Analysis </vt:lpstr>
      <vt:lpstr>Customer Data Analysis </vt:lpstr>
      <vt:lpstr>Customer Data Analysis </vt:lpstr>
      <vt:lpstr>Customer Data Analysis </vt:lpstr>
      <vt:lpstr>Customer Data Analysis </vt:lpstr>
      <vt:lpstr>Customer Data Analysis </vt:lpstr>
      <vt:lpstr>Customer Data Analysis </vt:lpstr>
      <vt:lpstr>Customer Data Analysis </vt:lpstr>
      <vt:lpstr>Customer Data Analysis </vt:lpstr>
      <vt:lpstr>Customer Data Analysis </vt:lpstr>
      <vt:lpstr>Customer Data Analysis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Data Analysis </dc:title>
  <dc:creator>sainanthan</dc:creator>
  <cp:lastModifiedBy>sainanthan</cp:lastModifiedBy>
  <cp:revision>47</cp:revision>
  <dcterms:created xsi:type="dcterms:W3CDTF">2025-11-14T14:19:38Z</dcterms:created>
  <dcterms:modified xsi:type="dcterms:W3CDTF">2025-11-17T07:29:24Z</dcterms:modified>
</cp:coreProperties>
</file>